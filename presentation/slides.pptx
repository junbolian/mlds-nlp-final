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4" r:id="rId5"/>
    <p:sldId id="265" r:id="rId6"/>
    <p:sldId id="266" r:id="rId7"/>
    <p:sldId id="259" r:id="rId8"/>
    <p:sldId id="260" r:id="rId9"/>
    <p:sldId id="261" r:id="rId10"/>
    <p:sldId id="262" r:id="rId11"/>
    <p:sldId id="263"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905" autoAdjust="0"/>
  </p:normalViewPr>
  <p:slideViewPr>
    <p:cSldViewPr snapToGrid="0" snapToObjects="1">
      <p:cViewPr varScale="1">
        <p:scale>
          <a:sx n="138" d="100"/>
          <a:sy n="138" d="100"/>
        </p:scale>
        <p:origin x="14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0121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Hi everyone. I'm Jacob. With me are Yujun, Feng, and </a:t>
            </a:r>
            <a:r>
              <a:rPr lang="en-US" altLang="zh-CN" dirty="0" err="1"/>
              <a:t>Jianong</a:t>
            </a:r>
            <a:r>
              <a:rPr lang="en-US" altLang="zh-CN" dirty="0"/>
              <a:t>. Our project is called Multi-</a:t>
            </a:r>
            <a:r>
              <a:rPr lang="en-US" altLang="zh-CN" dirty="0" err="1"/>
              <a:t>LexSum</a:t>
            </a:r>
            <a:r>
              <a:rPr lang="en-US" altLang="zh-CN" dirty="0"/>
              <a:t>. We work with civil rights lawsuits. We summarize them and classify them. Let me start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Multi-</a:t>
            </a:r>
            <a:r>
              <a:rPr lang="en-US" altLang="zh-CN" dirty="0" err="1"/>
              <a:t>LexSum</a:t>
            </a:r>
            <a:r>
              <a:rPr lang="en-US" altLang="zh-CN" dirty="0"/>
              <a:t> is a dataset of federal civil rights lawsuits. It comes from the Civil Rights Litigation Clearinghouse. Every case has three expert-written summaries. We call them long, short, and tiny.</a:t>
            </a:r>
          </a:p>
          <a:p>
            <a:r>
              <a:rPr lang="en-US" altLang="zh-CN" dirty="0"/>
              <a:t>We start with 4,539 cases. We keep only the ones with all three summaries and full metadata. That gives us 1,602 cases.</a:t>
            </a:r>
          </a:p>
          <a:p>
            <a:r>
              <a:rPr lang="en-US" altLang="zh-CN" dirty="0"/>
              <a:t>Now look at the size. The median case has 44,800 tokens. That is 87 times more than BERT can handle. The longest case has 3 million tokens.</a:t>
            </a:r>
          </a:p>
          <a:p>
            <a:r>
              <a:rPr lang="en-US" altLang="zh-CN" dirty="0"/>
              <a:t>This is the main challenge. We cannot feed a full case into BERT or any transformer. So we need a hierarchical pipeline. Yujun will explain that in section two.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First, cleaning. The raw text has a lot of legal noise. Things like page numbers, court citations, and footnotes. We wrote seven regex patterns to remove them. On average, each case has 614 citations. We process each case in 74 milliseconds.</a:t>
            </a:r>
          </a:p>
          <a:p>
            <a:r>
              <a:rPr lang="en-US" altLang="zh-CN" dirty="0"/>
              <a:t>Next, the case type. The original data has 24 different labels. That is too many. Some labels have only four cases. We collapse them into five groups based on legal theme. After two rounds of fixing the mapping, every case fits in one of the five. Zero percent goes to "Other".</a:t>
            </a:r>
          </a:p>
          <a:p>
            <a:r>
              <a:rPr lang="en-US" altLang="zh-CN" dirty="0"/>
              <a:t>Here are the group sizes. Criminal Justice is the biggest with 577 cases. Healthcare and Disability is the smallest with 69.</a:t>
            </a:r>
          </a:p>
          <a:p>
            <a:r>
              <a:rPr lang="en-US" altLang="zh-CN" dirty="0"/>
              <a:t>One finding to highlight. The class-action rate is very different across groups. In Speech and Voting, only 15.5 percent of cases are class actions. In Criminal Justice, it is 57.7 percent. That is a strong signal we will use later.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A — Hero stat + figure (single dominant number)
BEST FOR:
  Slide 4 (Yujun: motivation for hierarchical — hero could be 'long-tail token count')
  Slide 7 (Feng: classification approach with key model count)
RECIPE:
  - LEFT: small label → big hero number → italic unit caption → punchline → muted sub-text
  - RIGHT: figure (h=2.05) → caption → thin rule → 3 inline secondary stats
  - Replace the rectangle placeholder with addImage()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B — Figure-prominent + hero + list
BEST FOR:
  Slide 5 (Yujun: pipeline diagram on left, model selection table on right)
  Slide 8/9 (Feng: confusion matrix on left, per-class metrics on right)
  Slide 11 (Jianong: SHAP/attention viz on left, error cases on right)
RECIPE:
  - Title + optional intro sentence
  - Thin rule
  - LEFT 60%: figure (w=5.7, h=2.55)
  - RIGHT 40%: HERO (e.g. 'A → B'), short caption, list of 5 rows
  - Bottom: italic pull-quote with gold em-dash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 — Results comparison table
BEST FOR:
  Slide 6 (Yujun: summarization ROUGE / BERTScore by granularity)
  Slide 8 (Feng: class_action results — 4 models compared)
  Slide 9 (Feng: case_type results — 4 models, macro-F1)
RECIPE:
  - Title + 1-line italic lede stating the headline finding
  - Wide table, purple header row
  - Purple-wash callout below with the 'so what'
  - Don't pack &gt; 6 columns. If you need more comparisons, split into 2 slides.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D — Full-bleed visual
BEST FOR:
  Slide 10 (Jianong: Gradio demo screenshot or live screencast)
  Slide 11 (Jianong: large SHAP plot or BERT attention heatmap)
RECIPE:
  - Title gives the demo name
  - One large image, no other visuals competing
  - Small caption below — URL, version, or what to focus on
TIP for slide 10: pre-record a backup screencast. Live demos fail.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E — Numbered takeaway list (conclusion)
BEST FOR:
  Slide 12 (Jianong: lessons &amp; future work — the closer)
RECIPE:
  - Three takeaway cards, each with a big numeral (01/02/03)
  - One line for the heading, one line for the body
  - Italic pull-quote at the bottom: future work
VOICE: Be specific. Avoid 'we learned a lot'. State what surprised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A4B"/>
        </a:solidFill>
        <a:effectLst/>
      </p:bgPr>
    </p:bg>
    <p:spTree>
      <p:nvGrpSpPr>
        <p:cNvPr id="1" name=""/>
        <p:cNvGrpSpPr/>
        <p:nvPr/>
      </p:nvGrpSpPr>
      <p:grpSpPr>
        <a:xfrm>
          <a:off x="0" y="0"/>
          <a:ext cx="0" cy="0"/>
          <a:chOff x="0" y="0"/>
          <a:chExt cx="0" cy="0"/>
        </a:xfrm>
      </p:grpSpPr>
      <p:sp>
        <p:nvSpPr>
          <p:cNvPr id="2" name="Text 0"/>
          <p:cNvSpPr/>
          <p:nvPr/>
        </p:nvSpPr>
        <p:spPr>
          <a:xfrm>
            <a:off x="640080" y="502920"/>
            <a:ext cx="8229600" cy="274320"/>
          </a:xfrm>
          <a:prstGeom prst="rect">
            <a:avLst/>
          </a:prstGeom>
          <a:noFill/>
          <a:ln/>
        </p:spPr>
        <p:txBody>
          <a:bodyPr wrap="square" lIns="0" tIns="0" rIns="0" bIns="0" rtlCol="0" anchor="ctr"/>
          <a:lstStyle/>
          <a:p>
            <a:pPr marL="0" indent="0">
              <a:buNone/>
            </a:pPr>
            <a:r>
              <a:rPr lang="en-US" sz="950" b="1" kern="0" spc="500" dirty="0">
                <a:solidFill>
                  <a:srgbClr val="D9C281"/>
                </a:solidFill>
                <a:latin typeface="Calibri" pitchFamily="34" charset="0"/>
                <a:ea typeface="Calibri" pitchFamily="34" charset="-122"/>
                <a:cs typeface="Calibri" pitchFamily="34" charset="-120"/>
              </a:rPr>
              <a:t>NORTHWESTERN  MLDS    ·    NLP    ·    SPRING 2026    ·    OPTION 2</a:t>
            </a:r>
            <a:endParaRPr lang="en-US" sz="950" dirty="0"/>
          </a:p>
        </p:txBody>
      </p:sp>
      <p:sp>
        <p:nvSpPr>
          <p:cNvPr id="3" name="Text 1"/>
          <p:cNvSpPr/>
          <p:nvPr/>
        </p:nvSpPr>
        <p:spPr>
          <a:xfrm>
            <a:off x="640080" y="1280160"/>
            <a:ext cx="8229600" cy="868680"/>
          </a:xfrm>
          <a:prstGeom prst="rect">
            <a:avLst/>
          </a:prstGeom>
          <a:noFill/>
          <a:ln/>
        </p:spPr>
        <p:txBody>
          <a:bodyPr wrap="square" lIns="0" tIns="0" rIns="0" bIns="0" rtlCol="0" anchor="ctr"/>
          <a:lstStyle/>
          <a:p>
            <a:pPr marL="0" indent="0" algn="l">
              <a:buNone/>
            </a:pPr>
            <a:r>
              <a:rPr lang="en-US" sz="6000" b="1" dirty="0">
                <a:solidFill>
                  <a:srgbClr val="FFFFFF"/>
                </a:solidFill>
                <a:latin typeface="Georgia" pitchFamily="34" charset="0"/>
                <a:ea typeface="Georgia" pitchFamily="34" charset="-122"/>
                <a:cs typeface="Georgia" pitchFamily="34" charset="-120"/>
              </a:rPr>
              <a:t>Multi-LexSum</a:t>
            </a:r>
            <a:endParaRPr lang="en-US" sz="6000" dirty="0"/>
          </a:p>
        </p:txBody>
      </p:sp>
      <p:sp>
        <p:nvSpPr>
          <p:cNvPr id="4" name="Text 2"/>
          <p:cNvSpPr/>
          <p:nvPr/>
        </p:nvSpPr>
        <p:spPr>
          <a:xfrm>
            <a:off x="658368" y="2194560"/>
            <a:ext cx="8229600" cy="365760"/>
          </a:xfrm>
          <a:prstGeom prst="rect">
            <a:avLst/>
          </a:prstGeom>
          <a:noFill/>
          <a:ln/>
        </p:spPr>
        <p:txBody>
          <a:bodyPr wrap="square" lIns="0" tIns="0" rIns="0" bIns="0" rtlCol="0" anchor="ctr"/>
          <a:lstStyle/>
          <a:p>
            <a:pPr marL="0" indent="0" algn="l">
              <a:buNone/>
            </a:pPr>
            <a:r>
              <a:rPr lang="en-US" sz="1600" i="1" dirty="0">
                <a:solidFill>
                  <a:srgbClr val="D9C281"/>
                </a:solidFill>
                <a:latin typeface="Georgia" pitchFamily="34" charset="0"/>
                <a:ea typeface="Georgia" pitchFamily="34" charset="-122"/>
                <a:cs typeface="Georgia" pitchFamily="34" charset="-120"/>
              </a:rPr>
              <a:t>Hierarchical summarization and civil-rights lawsuit classification</a:t>
            </a:r>
            <a:endParaRPr lang="en-US" sz="1600" dirty="0"/>
          </a:p>
        </p:txBody>
      </p:sp>
      <p:sp>
        <p:nvSpPr>
          <p:cNvPr id="5" name="Text 3"/>
          <p:cNvSpPr/>
          <p:nvPr/>
        </p:nvSpPr>
        <p:spPr>
          <a:xfrm>
            <a:off x="640080" y="3246120"/>
            <a:ext cx="3657600" cy="274320"/>
          </a:xfrm>
          <a:prstGeom prst="rect">
            <a:avLst/>
          </a:prstGeom>
          <a:noFill/>
          <a:ln/>
        </p:spPr>
        <p:txBody>
          <a:bodyPr wrap="square" lIns="0" tIns="0" rIns="0" bIns="0" rtlCol="0" anchor="ctr"/>
          <a:lstStyle/>
          <a:p>
            <a:pPr marL="0" indent="0">
              <a:buNone/>
            </a:pPr>
            <a:r>
              <a:rPr lang="en-US" sz="950" b="1" kern="0" spc="600" dirty="0">
                <a:solidFill>
                  <a:srgbClr val="D9C281"/>
                </a:solidFill>
                <a:latin typeface="Calibri" pitchFamily="34" charset="0"/>
                <a:ea typeface="Calibri" pitchFamily="34" charset="-122"/>
                <a:cs typeface="Calibri" pitchFamily="34" charset="-120"/>
              </a:rPr>
              <a:t>TEAM</a:t>
            </a:r>
            <a:endParaRPr lang="en-US" sz="950" dirty="0"/>
          </a:p>
        </p:txBody>
      </p:sp>
      <p:sp>
        <p:nvSpPr>
          <p:cNvPr id="6" name="Text 4"/>
          <p:cNvSpPr/>
          <p:nvPr/>
        </p:nvSpPr>
        <p:spPr>
          <a:xfrm>
            <a:off x="640080" y="3611880"/>
            <a:ext cx="3931920" cy="274320"/>
          </a:xfrm>
          <a:prstGeom prst="rect">
            <a:avLst/>
          </a:prstGeom>
          <a:noFill/>
          <a:ln/>
        </p:spPr>
        <p:txBody>
          <a:bodyPr wrap="square" lIns="0" tIns="0" rIns="0" bIns="0" rtlCol="0" anchor="ctr"/>
          <a:lstStyle/>
          <a:p>
            <a:pPr marL="0" indent="0">
              <a:buNone/>
            </a:pPr>
            <a:r>
              <a:rPr lang="en-US" sz="1500" b="1" dirty="0" err="1">
                <a:solidFill>
                  <a:srgbClr val="FFFFFF"/>
                </a:solidFill>
                <a:latin typeface="Georgia" pitchFamily="34" charset="0"/>
                <a:ea typeface="Georgia" pitchFamily="34" charset="-122"/>
                <a:cs typeface="Georgia" pitchFamily="34" charset="-120"/>
              </a:rPr>
              <a:t>Junbo</a:t>
            </a:r>
            <a:r>
              <a:rPr lang="en-US" sz="1500" b="1" dirty="0">
                <a:solidFill>
                  <a:srgbClr val="FFFFFF"/>
                </a:solidFill>
                <a:latin typeface="Georgia" pitchFamily="34" charset="0"/>
                <a:ea typeface="Georgia" pitchFamily="34" charset="-122"/>
                <a:cs typeface="Georgia" pitchFamily="34" charset="-120"/>
              </a:rPr>
              <a:t> Lian</a:t>
            </a:r>
            <a:endParaRPr lang="en-US" sz="1500" dirty="0"/>
          </a:p>
        </p:txBody>
      </p:sp>
      <p:sp>
        <p:nvSpPr>
          <p:cNvPr id="7" name="Text 5"/>
          <p:cNvSpPr/>
          <p:nvPr/>
        </p:nvSpPr>
        <p:spPr>
          <a:xfrm>
            <a:off x="640080" y="3867912"/>
            <a:ext cx="3931920" cy="256032"/>
          </a:xfrm>
          <a:prstGeom prst="rect">
            <a:avLst/>
          </a:prstGeom>
          <a:noFill/>
          <a:ln/>
        </p:spPr>
        <p:txBody>
          <a:bodyPr wrap="square" lIns="0" tIns="0" rIns="0" bIns="0" rtlCol="0" anchor="ctr"/>
          <a:lstStyle/>
          <a:p>
            <a:pPr marL="0" indent="0">
              <a:buNone/>
            </a:pPr>
            <a:r>
              <a:rPr lang="en-US" sz="900" kern="0" spc="200" dirty="0">
                <a:solidFill>
                  <a:srgbClr val="D9C281"/>
                </a:solidFill>
                <a:latin typeface="Calibri" pitchFamily="34" charset="0"/>
                <a:ea typeface="Calibri" pitchFamily="34" charset="-122"/>
                <a:cs typeface="Calibri" pitchFamily="34" charset="-120"/>
              </a:rPr>
              <a:t>Data · Integration</a:t>
            </a:r>
            <a:endParaRPr lang="en-US" sz="900" dirty="0"/>
          </a:p>
        </p:txBody>
      </p:sp>
      <p:sp>
        <p:nvSpPr>
          <p:cNvPr id="8" name="Text 6"/>
          <p:cNvSpPr/>
          <p:nvPr/>
        </p:nvSpPr>
        <p:spPr>
          <a:xfrm>
            <a:off x="4754880" y="3611880"/>
            <a:ext cx="393192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Yujun Sun</a:t>
            </a:r>
            <a:endParaRPr lang="en-US" sz="1500" dirty="0"/>
          </a:p>
        </p:txBody>
      </p:sp>
      <p:sp>
        <p:nvSpPr>
          <p:cNvPr id="9" name="Text 7"/>
          <p:cNvSpPr/>
          <p:nvPr/>
        </p:nvSpPr>
        <p:spPr>
          <a:xfrm>
            <a:off x="4754880" y="3867912"/>
            <a:ext cx="3931920" cy="256032"/>
          </a:xfrm>
          <a:prstGeom prst="rect">
            <a:avLst/>
          </a:prstGeom>
          <a:noFill/>
          <a:ln/>
        </p:spPr>
        <p:txBody>
          <a:bodyPr wrap="square" lIns="0" tIns="0" rIns="0" bIns="0" rtlCol="0" anchor="ctr"/>
          <a:lstStyle/>
          <a:p>
            <a:pPr marL="0" indent="0">
              <a:buNone/>
            </a:pPr>
            <a:r>
              <a:rPr lang="en-US" sz="900" kern="0" spc="200" dirty="0">
                <a:solidFill>
                  <a:srgbClr val="D9C281"/>
                </a:solidFill>
                <a:latin typeface="Calibri" pitchFamily="34" charset="0"/>
                <a:ea typeface="Calibri" pitchFamily="34" charset="-122"/>
                <a:cs typeface="Calibri" pitchFamily="34" charset="-120"/>
              </a:rPr>
              <a:t>Summarization</a:t>
            </a:r>
            <a:endParaRPr lang="en-US" sz="900" dirty="0"/>
          </a:p>
        </p:txBody>
      </p:sp>
      <p:sp>
        <p:nvSpPr>
          <p:cNvPr id="10" name="Text 8"/>
          <p:cNvSpPr/>
          <p:nvPr/>
        </p:nvSpPr>
        <p:spPr>
          <a:xfrm>
            <a:off x="640080" y="4251960"/>
            <a:ext cx="393192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Feng Xiong</a:t>
            </a:r>
            <a:endParaRPr lang="en-US" sz="1500" dirty="0"/>
          </a:p>
        </p:txBody>
      </p:sp>
      <p:sp>
        <p:nvSpPr>
          <p:cNvPr id="11" name="Text 9"/>
          <p:cNvSpPr/>
          <p:nvPr/>
        </p:nvSpPr>
        <p:spPr>
          <a:xfrm>
            <a:off x="640080" y="4507992"/>
            <a:ext cx="3931920" cy="256032"/>
          </a:xfrm>
          <a:prstGeom prst="rect">
            <a:avLst/>
          </a:prstGeom>
          <a:noFill/>
          <a:ln/>
        </p:spPr>
        <p:txBody>
          <a:bodyPr wrap="square" lIns="0" tIns="0" rIns="0" bIns="0" rtlCol="0" anchor="ctr"/>
          <a:lstStyle/>
          <a:p>
            <a:pPr marL="0" indent="0">
              <a:buNone/>
            </a:pPr>
            <a:r>
              <a:rPr lang="en-US" sz="900" kern="0" spc="200" dirty="0">
                <a:solidFill>
                  <a:srgbClr val="D9C281"/>
                </a:solidFill>
                <a:latin typeface="Calibri" pitchFamily="34" charset="0"/>
                <a:ea typeface="Calibri" pitchFamily="34" charset="-122"/>
                <a:cs typeface="Calibri" pitchFamily="34" charset="-120"/>
              </a:rPr>
              <a:t>Classification</a:t>
            </a:r>
            <a:endParaRPr lang="en-US" sz="900" dirty="0"/>
          </a:p>
        </p:txBody>
      </p:sp>
      <p:sp>
        <p:nvSpPr>
          <p:cNvPr id="12" name="Text 10"/>
          <p:cNvSpPr/>
          <p:nvPr/>
        </p:nvSpPr>
        <p:spPr>
          <a:xfrm>
            <a:off x="4754880" y="4251960"/>
            <a:ext cx="393192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Jianong Xu</a:t>
            </a:r>
            <a:endParaRPr lang="en-US" sz="1500" dirty="0"/>
          </a:p>
        </p:txBody>
      </p:sp>
      <p:sp>
        <p:nvSpPr>
          <p:cNvPr id="13" name="Text 11"/>
          <p:cNvSpPr/>
          <p:nvPr/>
        </p:nvSpPr>
        <p:spPr>
          <a:xfrm>
            <a:off x="4754880" y="4507992"/>
            <a:ext cx="3931920" cy="256032"/>
          </a:xfrm>
          <a:prstGeom prst="rect">
            <a:avLst/>
          </a:prstGeom>
          <a:noFill/>
          <a:ln/>
        </p:spPr>
        <p:txBody>
          <a:bodyPr wrap="square" lIns="0" tIns="0" rIns="0" bIns="0" rtlCol="0" anchor="ctr"/>
          <a:lstStyle/>
          <a:p>
            <a:pPr marL="0" indent="0">
              <a:buNone/>
            </a:pPr>
            <a:r>
              <a:rPr lang="en-US" sz="900" kern="0" spc="200" dirty="0">
                <a:solidFill>
                  <a:srgbClr val="D9C281"/>
                </a:solidFill>
                <a:latin typeface="Calibri" pitchFamily="34" charset="0"/>
                <a:ea typeface="Calibri" pitchFamily="34" charset="-122"/>
                <a:cs typeface="Calibri" pitchFamily="34" charset="-120"/>
              </a:rPr>
              <a:t>App · Evaluation</a:t>
            </a:r>
            <a:endParaRPr lang="en-US" sz="900" dirty="0"/>
          </a:p>
        </p:txBody>
      </p:sp>
      <p:sp>
        <p:nvSpPr>
          <p:cNvPr id="14" name="Text 12"/>
          <p:cNvSpPr/>
          <p:nvPr/>
        </p:nvSpPr>
        <p:spPr>
          <a:xfrm>
            <a:off x="5212080" y="4800600"/>
            <a:ext cx="3566160" cy="228600"/>
          </a:xfrm>
          <a:prstGeom prst="rect">
            <a:avLst/>
          </a:prstGeom>
          <a:noFill/>
          <a:ln/>
        </p:spPr>
        <p:txBody>
          <a:bodyPr wrap="square" lIns="0" tIns="0" rIns="0" bIns="0" rtlCol="0" anchor="ctr"/>
          <a:lstStyle/>
          <a:p>
            <a:pPr marL="0" indent="0" algn="r">
              <a:buNone/>
            </a:pPr>
            <a:r>
              <a:rPr lang="en-US" sz="850" kern="0" spc="200" dirty="0">
                <a:solidFill>
                  <a:srgbClr val="C8B6D9"/>
                </a:solidFill>
                <a:latin typeface="Calibri" pitchFamily="34" charset="0"/>
                <a:ea typeface="Calibri" pitchFamily="34" charset="-122"/>
                <a:cs typeface="Calibri" pitchFamily="34" charset="-120"/>
              </a:rPr>
              <a:t>Final Project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02</a:t>
            </a:r>
            <a:endParaRPr lang="en-US" sz="1100" dirty="0"/>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THE  DATA</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Long documents, expert summaries</a:t>
            </a:r>
            <a:endParaRPr lang="en-US" sz="2600" dirty="0"/>
          </a:p>
        </p:txBody>
      </p:sp>
      <p:sp>
        <p:nvSpPr>
          <p:cNvPr id="5" name="Text 3"/>
          <p:cNvSpPr/>
          <p:nvPr/>
        </p:nvSpPr>
        <p:spPr>
          <a:xfrm>
            <a:off x="658368" y="1371600"/>
            <a:ext cx="8229600" cy="365760"/>
          </a:xfrm>
          <a:prstGeom prst="rect">
            <a:avLst/>
          </a:prstGeom>
          <a:noFill/>
          <a:ln/>
        </p:spPr>
        <p:txBody>
          <a:bodyPr wrap="square" lIns="0" tIns="0" rIns="0" bIns="0"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Multi-LexSum: 4,539 federal civil-rights cases, 1,602 with all three reference summaries and complete metadata.</a:t>
            </a:r>
            <a:endParaRPr lang="en-US" sz="1200" dirty="0"/>
          </a:p>
        </p:txBody>
      </p:sp>
      <p:sp>
        <p:nvSpPr>
          <p:cNvPr id="6" name="Text 4"/>
          <p:cNvSpPr/>
          <p:nvPr/>
        </p:nvSpPr>
        <p:spPr>
          <a:xfrm>
            <a:off x="640080" y="2103120"/>
            <a:ext cx="3657600" cy="274320"/>
          </a:xfrm>
          <a:prstGeom prst="rect">
            <a:avLst/>
          </a:prstGeom>
          <a:noFill/>
          <a:ln/>
        </p:spPr>
        <p:txBody>
          <a:bodyPr wrap="square" lIns="0" tIns="0" rIns="0" bIns="0" rtlCol="0" anchor="ctr"/>
          <a:lstStyle/>
          <a:p>
            <a:pPr marL="0" indent="0">
              <a:buNone/>
            </a:pPr>
            <a:r>
              <a:rPr lang="en-US" sz="950" b="1" kern="0" spc="500" dirty="0">
                <a:solidFill>
                  <a:srgbClr val="858585"/>
                </a:solidFill>
                <a:latin typeface="Calibri" pitchFamily="34" charset="0"/>
                <a:ea typeface="Calibri" pitchFamily="34" charset="-122"/>
                <a:cs typeface="Calibri" pitchFamily="34" charset="-120"/>
              </a:rPr>
              <a:t>MEDIAN  CASE</a:t>
            </a:r>
            <a:endParaRPr lang="en-US" sz="950" dirty="0"/>
          </a:p>
        </p:txBody>
      </p:sp>
      <p:sp>
        <p:nvSpPr>
          <p:cNvPr id="7" name="Text 5"/>
          <p:cNvSpPr/>
          <p:nvPr/>
        </p:nvSpPr>
        <p:spPr>
          <a:xfrm>
            <a:off x="594360" y="2331720"/>
            <a:ext cx="3657600" cy="1051560"/>
          </a:xfrm>
          <a:prstGeom prst="rect">
            <a:avLst/>
          </a:prstGeom>
          <a:noFill/>
          <a:ln/>
        </p:spPr>
        <p:txBody>
          <a:bodyPr wrap="square" lIns="0" tIns="0" rIns="0" bIns="0" rtlCol="0" anchor="ctr"/>
          <a:lstStyle/>
          <a:p>
            <a:pPr marL="0" indent="0" algn="l">
              <a:buNone/>
            </a:pPr>
            <a:r>
              <a:rPr lang="en-US" sz="6800" b="1" dirty="0">
                <a:solidFill>
                  <a:srgbClr val="4E2A84"/>
                </a:solidFill>
                <a:latin typeface="Georgia" pitchFamily="34" charset="0"/>
                <a:ea typeface="Georgia" pitchFamily="34" charset="-122"/>
                <a:cs typeface="Georgia" pitchFamily="34" charset="-120"/>
              </a:rPr>
              <a:t>44.8K</a:t>
            </a:r>
            <a:endParaRPr lang="en-US" sz="6800" dirty="0"/>
          </a:p>
        </p:txBody>
      </p:sp>
      <p:sp>
        <p:nvSpPr>
          <p:cNvPr id="8" name="Text 6"/>
          <p:cNvSpPr/>
          <p:nvPr/>
        </p:nvSpPr>
        <p:spPr>
          <a:xfrm>
            <a:off x="658368" y="3337560"/>
            <a:ext cx="3657600" cy="320040"/>
          </a:xfrm>
          <a:prstGeom prst="rect">
            <a:avLst/>
          </a:prstGeom>
          <a:noFill/>
          <a:ln/>
        </p:spPr>
        <p:txBody>
          <a:bodyPr wrap="square" lIns="0" tIns="0" rIns="0" bIns="0" rtlCol="0" anchor="ctr"/>
          <a:lstStyle/>
          <a:p>
            <a:pPr marL="0" indent="0">
              <a:buNone/>
            </a:pPr>
            <a:r>
              <a:rPr lang="en-US" sz="1400" i="1" dirty="0">
                <a:solidFill>
                  <a:srgbClr val="1A1A1A"/>
                </a:solidFill>
                <a:latin typeface="Georgia" pitchFamily="34" charset="0"/>
                <a:ea typeface="Georgia" pitchFamily="34" charset="-122"/>
                <a:cs typeface="Georgia" pitchFamily="34" charset="-120"/>
              </a:rPr>
              <a:t>tokens per case</a:t>
            </a:r>
            <a:endParaRPr lang="en-US" sz="1400" dirty="0"/>
          </a:p>
        </p:txBody>
      </p:sp>
      <p:sp>
        <p:nvSpPr>
          <p:cNvPr id="9" name="Text 7"/>
          <p:cNvSpPr/>
          <p:nvPr/>
        </p:nvSpPr>
        <p:spPr>
          <a:xfrm>
            <a:off x="658368" y="3840480"/>
            <a:ext cx="4023360" cy="320040"/>
          </a:xfrm>
          <a:prstGeom prst="rect">
            <a:avLst/>
          </a:prstGeom>
          <a:noFill/>
          <a:ln/>
        </p:spPr>
        <p:txBody>
          <a:bodyPr wrap="square" lIns="0" tIns="0" rIns="0" bIns="0" rtlCol="0" anchor="ctr"/>
          <a:lstStyle/>
          <a:p>
            <a:pPr marL="0" indent="0">
              <a:buNone/>
            </a:pPr>
            <a:r>
              <a:rPr lang="en-US" sz="1250" dirty="0">
                <a:solidFill>
                  <a:srgbClr val="858585"/>
                </a:solidFill>
                <a:latin typeface="Calibri" pitchFamily="34" charset="0"/>
                <a:ea typeface="Calibri" pitchFamily="34" charset="-122"/>
                <a:cs typeface="Calibri" pitchFamily="34" charset="-120"/>
              </a:rPr>
              <a:t>= </a:t>
            </a:r>
            <a:r>
              <a:rPr lang="en-US" sz="1250" b="1" dirty="0">
                <a:solidFill>
                  <a:srgbClr val="9A7E3F"/>
                </a:solidFill>
                <a:latin typeface="Calibri" pitchFamily="34" charset="0"/>
                <a:ea typeface="Calibri" pitchFamily="34" charset="-122"/>
                <a:cs typeface="Calibri" pitchFamily="34" charset="-120"/>
              </a:rPr>
              <a:t>87×</a:t>
            </a:r>
            <a:r>
              <a:rPr lang="en-US" sz="1250" dirty="0">
                <a:solidFill>
                  <a:srgbClr val="1A1A1A"/>
                </a:solidFill>
                <a:latin typeface="Calibri" pitchFamily="34" charset="0"/>
                <a:ea typeface="Calibri" pitchFamily="34" charset="-122"/>
                <a:cs typeface="Calibri" pitchFamily="34" charset="-120"/>
              </a:rPr>
              <a:t> BERT's 512-token context limit.</a:t>
            </a:r>
            <a:endParaRPr lang="en-US" sz="1250" dirty="0"/>
          </a:p>
        </p:txBody>
      </p:sp>
      <p:sp>
        <p:nvSpPr>
          <p:cNvPr id="10" name="Text 8"/>
          <p:cNvSpPr/>
          <p:nvPr/>
        </p:nvSpPr>
        <p:spPr>
          <a:xfrm>
            <a:off x="658368" y="4160520"/>
            <a:ext cx="4023360" cy="274320"/>
          </a:xfrm>
          <a:prstGeom prst="rect">
            <a:avLst/>
          </a:prstGeom>
          <a:noFill/>
          <a:ln/>
        </p:spPr>
        <p:txBody>
          <a:bodyPr wrap="square" lIns="0" tIns="0" rIns="0" bIns="0" rtlCol="0" anchor="ctr"/>
          <a:lstStyle/>
          <a:p>
            <a:pPr marL="0" indent="0">
              <a:buNone/>
            </a:pPr>
            <a:r>
              <a:rPr lang="en-US" sz="1100" dirty="0">
                <a:solidFill>
                  <a:srgbClr val="858585"/>
                </a:solidFill>
                <a:latin typeface="Calibri" pitchFamily="34" charset="0"/>
                <a:ea typeface="Calibri" pitchFamily="34" charset="-122"/>
                <a:cs typeface="Calibri" pitchFamily="34" charset="-120"/>
              </a:rPr>
              <a:t>Longest case: </a:t>
            </a:r>
            <a:r>
              <a:rPr lang="en-US" sz="1100" b="1" dirty="0">
                <a:solidFill>
                  <a:srgbClr val="1A1A1A"/>
                </a:solidFill>
                <a:latin typeface="Calibri" pitchFamily="34" charset="0"/>
                <a:ea typeface="Calibri" pitchFamily="34" charset="-122"/>
                <a:cs typeface="Calibri" pitchFamily="34" charset="-120"/>
              </a:rPr>
              <a:t>3,002,324 tokens</a:t>
            </a:r>
            <a:r>
              <a:rPr lang="en-US" sz="1100" dirty="0">
                <a:solidFill>
                  <a:srgbClr val="858585"/>
                </a:solidFill>
                <a:latin typeface="Calibri" pitchFamily="34" charset="0"/>
                <a:ea typeface="Calibri" pitchFamily="34" charset="-122"/>
                <a:cs typeface="Calibri" pitchFamily="34" charset="-120"/>
              </a:rPr>
              <a:t>.</a:t>
            </a:r>
            <a:endParaRPr lang="en-US" sz="1100" dirty="0"/>
          </a:p>
        </p:txBody>
      </p:sp>
      <p:sp>
        <p:nvSpPr>
          <p:cNvPr id="11" name="Text 9"/>
          <p:cNvSpPr/>
          <p:nvPr/>
        </p:nvSpPr>
        <p:spPr>
          <a:xfrm>
            <a:off x="658368" y="4434840"/>
            <a:ext cx="4023360" cy="274320"/>
          </a:xfrm>
          <a:prstGeom prst="rect">
            <a:avLst/>
          </a:prstGeom>
          <a:noFill/>
          <a:ln/>
        </p:spPr>
        <p:txBody>
          <a:bodyPr wrap="square" lIns="0" tIns="0" rIns="0" bIns="0" rtlCol="0" anchor="ctr"/>
          <a:lstStyle/>
          <a:p>
            <a:pPr marL="0" indent="0">
              <a:buNone/>
            </a:pPr>
            <a:r>
              <a:rPr lang="en-US" sz="1050" i="1" dirty="0">
                <a:solidFill>
                  <a:srgbClr val="858585"/>
                </a:solidFill>
                <a:latin typeface="Calibri" pitchFamily="34" charset="0"/>
                <a:ea typeface="Calibri" pitchFamily="34" charset="-122"/>
                <a:cs typeface="Calibri" pitchFamily="34" charset="-120"/>
              </a:rPr>
              <a:t>Direct transformer feed impossible — motivates §2.</a:t>
            </a:r>
            <a:endParaRPr lang="en-US" sz="1050" dirty="0"/>
          </a:p>
        </p:txBody>
      </p:sp>
      <p:pic>
        <p:nvPicPr>
          <p:cNvPr id="12" name="Image 0" descr="figs/source_length_distribution.png"/>
          <p:cNvPicPr>
            <a:picLocks noChangeAspect="1"/>
          </p:cNvPicPr>
          <p:nvPr/>
        </p:nvPicPr>
        <p:blipFill>
          <a:blip r:embed="rId3"/>
          <a:srcRect/>
          <a:stretch/>
        </p:blipFill>
        <p:spPr>
          <a:xfrm>
            <a:off x="4572000" y="2251241"/>
            <a:ext cx="4389120" cy="1534375"/>
          </a:xfrm>
          <a:prstGeom prst="rect">
            <a:avLst/>
          </a:prstGeom>
        </p:spPr>
      </p:pic>
      <p:sp>
        <p:nvSpPr>
          <p:cNvPr id="13" name="Text 10"/>
          <p:cNvSpPr/>
          <p:nvPr/>
        </p:nvSpPr>
        <p:spPr>
          <a:xfrm>
            <a:off x="4663440" y="4023360"/>
            <a:ext cx="4206240" cy="274320"/>
          </a:xfrm>
          <a:prstGeom prst="rect">
            <a:avLst/>
          </a:prstGeom>
          <a:noFill/>
          <a:ln/>
        </p:spPr>
        <p:txBody>
          <a:bodyPr wrap="square" lIns="0" tIns="0" rIns="0" bIns="0" rtlCol="0" anchor="ctr"/>
          <a:lstStyle/>
          <a:p>
            <a:pPr marL="0" indent="0">
              <a:buNone/>
            </a:pPr>
            <a:r>
              <a:rPr lang="en-US" sz="900" i="1" dirty="0">
                <a:solidFill>
                  <a:srgbClr val="858585"/>
                </a:solidFill>
                <a:latin typeface="Calibri" pitchFamily="34" charset="0"/>
                <a:ea typeface="Calibri" pitchFamily="34" charset="-122"/>
                <a:cs typeface="Calibri" pitchFamily="34" charset="-120"/>
              </a:rPr>
              <a:t>Source-text token distribution (log scale). Long tail to 3M; train · val · test identical.</a:t>
            </a:r>
            <a:endParaRPr lang="en-US" sz="900" dirty="0"/>
          </a:p>
        </p:txBody>
      </p:sp>
      <p:sp>
        <p:nvSpPr>
          <p:cNvPr id="14" name="Shape 11"/>
          <p:cNvSpPr/>
          <p:nvPr/>
        </p:nvSpPr>
        <p:spPr>
          <a:xfrm>
            <a:off x="4663440" y="4389120"/>
            <a:ext cx="4206240" cy="0"/>
          </a:xfrm>
          <a:prstGeom prst="line">
            <a:avLst/>
          </a:prstGeom>
          <a:noFill/>
          <a:ln w="9525">
            <a:solidFill>
              <a:srgbClr val="DCD4E5"/>
            </a:solidFill>
            <a:prstDash val="solid"/>
          </a:ln>
        </p:spPr>
        <p:txBody>
          <a:bodyPr/>
          <a:lstStyle/>
          <a:p>
            <a:endParaRPr lang="zh-CN" altLang="en-US"/>
          </a:p>
        </p:txBody>
      </p:sp>
      <p:sp>
        <p:nvSpPr>
          <p:cNvPr id="15" name="Text 12"/>
          <p:cNvSpPr/>
          <p:nvPr/>
        </p:nvSpPr>
        <p:spPr>
          <a:xfrm>
            <a:off x="4663440" y="4498848"/>
            <a:ext cx="4206240" cy="320040"/>
          </a:xfrm>
          <a:prstGeom prst="rect">
            <a:avLst/>
          </a:prstGeom>
          <a:noFill/>
          <a:ln/>
        </p:spPr>
        <p:txBody>
          <a:bodyPr wrap="square" lIns="0" tIns="0" rIns="0" bIns="0" rtlCol="0" anchor="ctr"/>
          <a:lstStyle/>
          <a:p>
            <a:pPr marL="0" indent="0" algn="l">
              <a:buNone/>
            </a:pPr>
            <a:r>
              <a:rPr lang="en-US" sz="1100" b="1" dirty="0">
                <a:solidFill>
                  <a:srgbClr val="4E2A84"/>
                </a:solidFill>
                <a:latin typeface="Georgia" pitchFamily="34" charset="0"/>
                <a:ea typeface="Georgia" pitchFamily="34" charset="-122"/>
                <a:cs typeface="Georgia" pitchFamily="34" charset="-120"/>
              </a:rPr>
              <a:t>1,602</a:t>
            </a:r>
            <a:r>
              <a:rPr lang="en-US" sz="1100" dirty="0">
                <a:solidFill>
                  <a:srgbClr val="858585"/>
                </a:solidFill>
                <a:latin typeface="Calibri" pitchFamily="34" charset="0"/>
                <a:ea typeface="Calibri" pitchFamily="34" charset="-122"/>
                <a:cs typeface="Calibri" pitchFamily="34" charset="-120"/>
              </a:rPr>
              <a:t>  cases     </a:t>
            </a:r>
            <a:r>
              <a:rPr lang="en-US" sz="1100" b="1" dirty="0">
                <a:solidFill>
                  <a:srgbClr val="4E2A84"/>
                </a:solidFill>
                <a:latin typeface="Georgia" pitchFamily="34" charset="0"/>
                <a:ea typeface="Georgia" pitchFamily="34" charset="-122"/>
                <a:cs typeface="Georgia" pitchFamily="34" charset="-120"/>
              </a:rPr>
              <a:t>24</a:t>
            </a:r>
            <a:r>
              <a:rPr lang="en-US" sz="1100" dirty="0">
                <a:solidFill>
                  <a:srgbClr val="858585"/>
                </a:solidFill>
                <a:latin typeface="Calibri" pitchFamily="34" charset="0"/>
                <a:ea typeface="Calibri" pitchFamily="34" charset="-122"/>
                <a:cs typeface="Calibri" pitchFamily="34" charset="-120"/>
              </a:rPr>
              <a:t>  raw labels     </a:t>
            </a:r>
            <a:r>
              <a:rPr lang="en-US" sz="1100" b="1" dirty="0">
                <a:solidFill>
                  <a:srgbClr val="4E2A84"/>
                </a:solidFill>
                <a:latin typeface="Georgia" pitchFamily="34" charset="0"/>
                <a:ea typeface="Georgia" pitchFamily="34" charset="-122"/>
                <a:cs typeface="Georgia" pitchFamily="34" charset="-120"/>
              </a:rPr>
              <a:t>3</a:t>
            </a:r>
            <a:r>
              <a:rPr lang="en-US" sz="1100" dirty="0">
                <a:solidFill>
                  <a:srgbClr val="858585"/>
                </a:solidFill>
                <a:latin typeface="Calibri" pitchFamily="34" charset="0"/>
                <a:ea typeface="Calibri" pitchFamily="34" charset="-122"/>
                <a:cs typeface="Calibri" pitchFamily="34" charset="-120"/>
              </a:rPr>
              <a:t>  granularities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03</a:t>
            </a:r>
            <a:endParaRPr lang="en-US" sz="1100" dirty="0"/>
          </a:p>
        </p:txBody>
      </p:sp>
      <p:sp>
        <p:nvSpPr>
          <p:cNvPr id="3" name="Text 1"/>
          <p:cNvSpPr/>
          <p:nvPr/>
        </p:nvSpPr>
        <p:spPr>
          <a:xfrm>
            <a:off x="640080" y="411480"/>
            <a:ext cx="54864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PREPROCESSING</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Cleaning, then collapsing 24 labels into 5</a:t>
            </a:r>
            <a:endParaRPr lang="en-US" sz="2600" dirty="0"/>
          </a:p>
        </p:txBody>
      </p:sp>
      <p:sp>
        <p:nvSpPr>
          <p:cNvPr id="5" name="Text 3"/>
          <p:cNvSpPr/>
          <p:nvPr/>
        </p:nvSpPr>
        <p:spPr>
          <a:xfrm>
            <a:off x="658368" y="1325880"/>
            <a:ext cx="8229600" cy="365760"/>
          </a:xfrm>
          <a:prstGeom prst="rect">
            <a:avLst/>
          </a:prstGeom>
          <a:noFill/>
          <a:ln/>
        </p:spPr>
        <p:txBody>
          <a:bodyPr wrap="square" lIns="0" tIns="0" rIns="0" bIns="0" rtlCol="0" anchor="ctr"/>
          <a:lstStyle/>
          <a:p>
            <a:pPr marL="0" indent="0">
              <a:buNone/>
            </a:pPr>
            <a:r>
              <a:rPr lang="en-US" sz="1250" b="1" dirty="0">
                <a:solidFill>
                  <a:srgbClr val="4E2A84"/>
                </a:solidFill>
                <a:latin typeface="Georgia" pitchFamily="34" charset="0"/>
                <a:ea typeface="Georgia" pitchFamily="34" charset="-122"/>
                <a:cs typeface="Georgia" pitchFamily="34" charset="-120"/>
              </a:rPr>
              <a:t>Seven</a:t>
            </a:r>
            <a:r>
              <a:rPr lang="en-US" sz="1250" dirty="0">
                <a:solidFill>
                  <a:srgbClr val="1A1A1A"/>
                </a:solidFill>
                <a:latin typeface="Calibri" pitchFamily="34" charset="0"/>
                <a:ea typeface="Calibri" pitchFamily="34" charset="-122"/>
                <a:cs typeface="Calibri" pitchFamily="34" charset="-120"/>
              </a:rPr>
              <a:t> regex passes catch </a:t>
            </a:r>
            <a:r>
              <a:rPr lang="en-US" sz="1250" b="1" dirty="0">
                <a:solidFill>
                  <a:srgbClr val="4E2A84"/>
                </a:solidFill>
                <a:latin typeface="Georgia" pitchFamily="34" charset="0"/>
                <a:ea typeface="Georgia" pitchFamily="34" charset="-122"/>
                <a:cs typeface="Georgia" pitchFamily="34" charset="-120"/>
              </a:rPr>
              <a:t>614</a:t>
            </a:r>
            <a:r>
              <a:rPr lang="en-US" sz="1250" dirty="0">
                <a:solidFill>
                  <a:srgbClr val="1A1A1A"/>
                </a:solidFill>
                <a:latin typeface="Calibri" pitchFamily="34" charset="0"/>
                <a:ea typeface="Calibri" pitchFamily="34" charset="-122"/>
                <a:cs typeface="Calibri" pitchFamily="34" charset="-120"/>
              </a:rPr>
              <a:t> citations per case (mean) in </a:t>
            </a:r>
            <a:r>
              <a:rPr lang="en-US" sz="1250" b="1" dirty="0">
                <a:solidFill>
                  <a:srgbClr val="4E2A84"/>
                </a:solidFill>
                <a:latin typeface="Georgia" pitchFamily="34" charset="0"/>
                <a:ea typeface="Georgia" pitchFamily="34" charset="-122"/>
                <a:cs typeface="Georgia" pitchFamily="34" charset="-120"/>
              </a:rPr>
              <a:t>74 ms</a:t>
            </a:r>
            <a:r>
              <a:rPr lang="en-US" sz="1250" dirty="0">
                <a:solidFill>
                  <a:srgbClr val="1A1A1A"/>
                </a:solidFill>
                <a:latin typeface="Calibri" pitchFamily="34" charset="0"/>
                <a:ea typeface="Calibri" pitchFamily="34" charset="-122"/>
                <a:cs typeface="Calibri" pitchFamily="34" charset="-120"/>
              </a:rPr>
              <a:t>. Mostly reporter cites and U.S.C. references.</a:t>
            </a:r>
            <a:endParaRPr lang="en-US" sz="1250" dirty="0"/>
          </a:p>
        </p:txBody>
      </p:sp>
      <p:sp>
        <p:nvSpPr>
          <p:cNvPr id="6" name="Shape 4"/>
          <p:cNvSpPr/>
          <p:nvPr/>
        </p:nvSpPr>
        <p:spPr>
          <a:xfrm>
            <a:off x="640080" y="1828800"/>
            <a:ext cx="8229600" cy="0"/>
          </a:xfrm>
          <a:prstGeom prst="line">
            <a:avLst/>
          </a:prstGeom>
          <a:noFill/>
          <a:ln w="9525">
            <a:solidFill>
              <a:srgbClr val="DCD4E5"/>
            </a:solidFill>
            <a:prstDash val="solid"/>
          </a:ln>
        </p:spPr>
        <p:txBody>
          <a:bodyPr/>
          <a:lstStyle/>
          <a:p>
            <a:endParaRPr lang="zh-CN" altLang="en-US"/>
          </a:p>
        </p:txBody>
      </p:sp>
      <p:sp>
        <p:nvSpPr>
          <p:cNvPr id="7" name="Text 5"/>
          <p:cNvSpPr/>
          <p:nvPr/>
        </p:nvSpPr>
        <p:spPr>
          <a:xfrm>
            <a:off x="640080" y="1965960"/>
            <a:ext cx="4572000" cy="274320"/>
          </a:xfrm>
          <a:prstGeom prst="rect">
            <a:avLst/>
          </a:prstGeom>
          <a:noFill/>
          <a:ln/>
        </p:spPr>
        <p:txBody>
          <a:bodyPr wrap="square" lIns="0" tIns="0" rIns="0" bIns="0" rtlCol="0" anchor="ctr"/>
          <a:lstStyle/>
          <a:p>
            <a:pPr marL="0" indent="0">
              <a:buNone/>
            </a:pPr>
            <a:r>
              <a:rPr lang="en-US" sz="950" b="1" kern="0" spc="500" dirty="0">
                <a:solidFill>
                  <a:srgbClr val="858585"/>
                </a:solidFill>
                <a:latin typeface="Calibri" pitchFamily="34" charset="0"/>
                <a:ea typeface="Calibri" pitchFamily="34" charset="-122"/>
                <a:cs typeface="Calibri" pitchFamily="34" charset="-120"/>
              </a:rPr>
              <a:t>CASE_TYPE  GROUPING</a:t>
            </a:r>
            <a:endParaRPr lang="en-US" sz="950" dirty="0"/>
          </a:p>
        </p:txBody>
      </p:sp>
      <p:pic>
        <p:nvPicPr>
          <p:cNvPr id="8" name="Image 0" descr="figs/case_type_distribution.png"/>
          <p:cNvPicPr>
            <a:picLocks noChangeAspect="1"/>
          </p:cNvPicPr>
          <p:nvPr/>
        </p:nvPicPr>
        <p:blipFill>
          <a:blip r:embed="rId3"/>
          <a:srcRect/>
          <a:stretch/>
        </p:blipFill>
        <p:spPr>
          <a:xfrm>
            <a:off x="365760" y="2240280"/>
            <a:ext cx="5486400" cy="2331720"/>
          </a:xfrm>
          <a:prstGeom prst="rect">
            <a:avLst/>
          </a:prstGeom>
        </p:spPr>
      </p:pic>
      <p:sp>
        <p:nvSpPr>
          <p:cNvPr id="9" name="Text 6"/>
          <p:cNvSpPr/>
          <p:nvPr/>
        </p:nvSpPr>
        <p:spPr>
          <a:xfrm>
            <a:off x="6035040" y="1965960"/>
            <a:ext cx="2926080" cy="777240"/>
          </a:xfrm>
          <a:prstGeom prst="rect">
            <a:avLst/>
          </a:prstGeom>
          <a:noFill/>
          <a:ln/>
        </p:spPr>
        <p:txBody>
          <a:bodyPr wrap="square" lIns="0" tIns="0" rIns="0" bIns="0" rtlCol="0" anchor="ctr"/>
          <a:lstStyle/>
          <a:p>
            <a:pPr marL="0" indent="0" algn="l">
              <a:buNone/>
            </a:pPr>
            <a:r>
              <a:rPr lang="en-US" sz="4800" b="1" dirty="0">
                <a:solidFill>
                  <a:srgbClr val="4E2A84"/>
                </a:solidFill>
                <a:latin typeface="Georgia" pitchFamily="34" charset="0"/>
                <a:ea typeface="Georgia" pitchFamily="34" charset="-122"/>
                <a:cs typeface="Georgia" pitchFamily="34" charset="-120"/>
              </a:rPr>
              <a:t>24 → 5</a:t>
            </a:r>
            <a:endParaRPr lang="en-US" sz="4800" dirty="0"/>
          </a:p>
        </p:txBody>
      </p:sp>
      <p:sp>
        <p:nvSpPr>
          <p:cNvPr id="10" name="Text 7"/>
          <p:cNvSpPr/>
          <p:nvPr/>
        </p:nvSpPr>
        <p:spPr>
          <a:xfrm>
            <a:off x="6035040" y="2697480"/>
            <a:ext cx="2926080" cy="274320"/>
          </a:xfrm>
          <a:prstGeom prst="rect">
            <a:avLst/>
          </a:prstGeom>
          <a:noFill/>
          <a:ln/>
        </p:spPr>
        <p:txBody>
          <a:bodyPr wrap="square" lIns="0" tIns="0" rIns="0" bIns="0" rtlCol="0" anchor="ctr"/>
          <a:lstStyle/>
          <a:p>
            <a:pPr marL="0" indent="0">
              <a:buNone/>
            </a:pPr>
            <a:r>
              <a:rPr lang="en-US" sz="1100" i="1" dirty="0">
                <a:solidFill>
                  <a:srgbClr val="858585"/>
                </a:solidFill>
                <a:latin typeface="Calibri" pitchFamily="34" charset="0"/>
                <a:ea typeface="Calibri" pitchFamily="34" charset="-122"/>
                <a:cs typeface="Calibri" pitchFamily="34" charset="-120"/>
              </a:rPr>
              <a:t>labels collapsed.  </a:t>
            </a:r>
            <a:r>
              <a:rPr lang="en-US" sz="1100" b="1" i="1" dirty="0">
                <a:solidFill>
                  <a:srgbClr val="9A7E3F"/>
                </a:solidFill>
                <a:latin typeface="Calibri" pitchFamily="34" charset="0"/>
                <a:ea typeface="Calibri" pitchFamily="34" charset="-122"/>
                <a:cs typeface="Calibri" pitchFamily="34" charset="-120"/>
              </a:rPr>
              <a:t>0%</a:t>
            </a:r>
            <a:r>
              <a:rPr lang="en-US" sz="1100" i="1" dirty="0">
                <a:solidFill>
                  <a:srgbClr val="858585"/>
                </a:solidFill>
                <a:latin typeface="Calibri" pitchFamily="34" charset="0"/>
                <a:ea typeface="Calibri" pitchFamily="34" charset="-122"/>
                <a:cs typeface="Calibri" pitchFamily="34" charset="-120"/>
              </a:rPr>
              <a:t> in 'Other'.</a:t>
            </a:r>
            <a:endParaRPr lang="en-US" sz="1100" dirty="0"/>
          </a:p>
        </p:txBody>
      </p:sp>
      <p:sp>
        <p:nvSpPr>
          <p:cNvPr id="11" name="Text 8"/>
          <p:cNvSpPr/>
          <p:nvPr/>
        </p:nvSpPr>
        <p:spPr>
          <a:xfrm>
            <a:off x="6035040" y="3063240"/>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Criminal Justice</a:t>
            </a:r>
            <a:endParaRPr lang="en-US" sz="1000" dirty="0"/>
          </a:p>
        </p:txBody>
      </p:sp>
      <p:sp>
        <p:nvSpPr>
          <p:cNvPr id="12" name="Text 9"/>
          <p:cNvSpPr/>
          <p:nvPr/>
        </p:nvSpPr>
        <p:spPr>
          <a:xfrm>
            <a:off x="7909560" y="3063240"/>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577</a:t>
            </a:r>
            <a:endParaRPr lang="en-US" sz="1050" dirty="0"/>
          </a:p>
        </p:txBody>
      </p:sp>
      <p:sp>
        <p:nvSpPr>
          <p:cNvPr id="13" name="Text 10"/>
          <p:cNvSpPr/>
          <p:nvPr/>
        </p:nvSpPr>
        <p:spPr>
          <a:xfrm>
            <a:off x="8366760" y="3063240"/>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36%</a:t>
            </a:r>
            <a:endParaRPr lang="en-US" sz="950" dirty="0"/>
          </a:p>
        </p:txBody>
      </p:sp>
      <p:sp>
        <p:nvSpPr>
          <p:cNvPr id="14" name="Text 11"/>
          <p:cNvSpPr/>
          <p:nvPr/>
        </p:nvSpPr>
        <p:spPr>
          <a:xfrm>
            <a:off x="6035040" y="3310128"/>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Speech &amp; Voting</a:t>
            </a:r>
            <a:endParaRPr lang="en-US" sz="1000" dirty="0"/>
          </a:p>
        </p:txBody>
      </p:sp>
      <p:sp>
        <p:nvSpPr>
          <p:cNvPr id="15" name="Text 12"/>
          <p:cNvSpPr/>
          <p:nvPr/>
        </p:nvSpPr>
        <p:spPr>
          <a:xfrm>
            <a:off x="7909560" y="3310128"/>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414</a:t>
            </a:r>
            <a:endParaRPr lang="en-US" sz="1050" dirty="0"/>
          </a:p>
        </p:txBody>
      </p:sp>
      <p:sp>
        <p:nvSpPr>
          <p:cNvPr id="16" name="Text 13"/>
          <p:cNvSpPr/>
          <p:nvPr/>
        </p:nvSpPr>
        <p:spPr>
          <a:xfrm>
            <a:off x="8366760" y="3310128"/>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26%</a:t>
            </a:r>
            <a:endParaRPr lang="en-US" sz="950" dirty="0"/>
          </a:p>
        </p:txBody>
      </p:sp>
      <p:sp>
        <p:nvSpPr>
          <p:cNvPr id="17" name="Text 14"/>
          <p:cNvSpPr/>
          <p:nvPr/>
        </p:nvSpPr>
        <p:spPr>
          <a:xfrm>
            <a:off x="6035040" y="3557016"/>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Immigration &amp; Education</a:t>
            </a:r>
            <a:endParaRPr lang="en-US" sz="1000" dirty="0"/>
          </a:p>
        </p:txBody>
      </p:sp>
      <p:sp>
        <p:nvSpPr>
          <p:cNvPr id="18" name="Text 15"/>
          <p:cNvSpPr/>
          <p:nvPr/>
        </p:nvSpPr>
        <p:spPr>
          <a:xfrm>
            <a:off x="7909560" y="3557016"/>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363</a:t>
            </a:r>
            <a:endParaRPr lang="en-US" sz="1050" dirty="0"/>
          </a:p>
        </p:txBody>
      </p:sp>
      <p:sp>
        <p:nvSpPr>
          <p:cNvPr id="19" name="Text 16"/>
          <p:cNvSpPr/>
          <p:nvPr/>
        </p:nvSpPr>
        <p:spPr>
          <a:xfrm>
            <a:off x="8366760" y="3557016"/>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23%</a:t>
            </a:r>
            <a:endParaRPr lang="en-US" sz="950" dirty="0"/>
          </a:p>
        </p:txBody>
      </p:sp>
      <p:sp>
        <p:nvSpPr>
          <p:cNvPr id="20" name="Text 17"/>
          <p:cNvSpPr/>
          <p:nvPr/>
        </p:nvSpPr>
        <p:spPr>
          <a:xfrm>
            <a:off x="6035040" y="3803904"/>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Civil Rights &amp; Equality</a:t>
            </a:r>
            <a:endParaRPr lang="en-US" sz="1000" dirty="0"/>
          </a:p>
        </p:txBody>
      </p:sp>
      <p:sp>
        <p:nvSpPr>
          <p:cNvPr id="21" name="Text 18"/>
          <p:cNvSpPr/>
          <p:nvPr/>
        </p:nvSpPr>
        <p:spPr>
          <a:xfrm>
            <a:off x="7909560" y="3803904"/>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179</a:t>
            </a:r>
            <a:endParaRPr lang="en-US" sz="1050" dirty="0"/>
          </a:p>
        </p:txBody>
      </p:sp>
      <p:sp>
        <p:nvSpPr>
          <p:cNvPr id="22" name="Text 19"/>
          <p:cNvSpPr/>
          <p:nvPr/>
        </p:nvSpPr>
        <p:spPr>
          <a:xfrm>
            <a:off x="8366760" y="3803904"/>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11%</a:t>
            </a:r>
            <a:endParaRPr lang="en-US" sz="950" dirty="0"/>
          </a:p>
        </p:txBody>
      </p:sp>
      <p:sp>
        <p:nvSpPr>
          <p:cNvPr id="23" name="Text 20"/>
          <p:cNvSpPr/>
          <p:nvPr/>
        </p:nvSpPr>
        <p:spPr>
          <a:xfrm>
            <a:off x="6035040" y="4050792"/>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Healthcare &amp; Disability</a:t>
            </a:r>
            <a:endParaRPr lang="en-US" sz="1000" dirty="0"/>
          </a:p>
        </p:txBody>
      </p:sp>
      <p:sp>
        <p:nvSpPr>
          <p:cNvPr id="24" name="Text 21"/>
          <p:cNvSpPr/>
          <p:nvPr/>
        </p:nvSpPr>
        <p:spPr>
          <a:xfrm>
            <a:off x="7909560" y="4050792"/>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69</a:t>
            </a:r>
            <a:endParaRPr lang="en-US" sz="1050" dirty="0"/>
          </a:p>
        </p:txBody>
      </p:sp>
      <p:sp>
        <p:nvSpPr>
          <p:cNvPr id="25" name="Text 22"/>
          <p:cNvSpPr/>
          <p:nvPr/>
        </p:nvSpPr>
        <p:spPr>
          <a:xfrm>
            <a:off x="8366760" y="4050792"/>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4%</a:t>
            </a:r>
            <a:endParaRPr lang="en-US" sz="950" dirty="0"/>
          </a:p>
        </p:txBody>
      </p:sp>
      <p:sp>
        <p:nvSpPr>
          <p:cNvPr id="26" name="Text 23"/>
          <p:cNvSpPr/>
          <p:nvPr/>
        </p:nvSpPr>
        <p:spPr>
          <a:xfrm>
            <a:off x="640080" y="4663440"/>
            <a:ext cx="8229600" cy="292608"/>
          </a:xfrm>
          <a:prstGeom prst="rect">
            <a:avLst/>
          </a:prstGeom>
          <a:noFill/>
          <a:ln/>
        </p:spPr>
        <p:txBody>
          <a:bodyPr wrap="square" lIns="0" tIns="0" rIns="0" bIns="0" rtlCol="0" anchor="ctr"/>
          <a:lstStyle/>
          <a:p>
            <a:pPr marL="0" indent="0">
              <a:buNone/>
            </a:pPr>
            <a:r>
              <a:rPr lang="en-US" sz="1100" b="1" i="1" dirty="0">
                <a:solidFill>
                  <a:srgbClr val="9A7E3F"/>
                </a:solidFill>
                <a:latin typeface="Georgia" pitchFamily="34" charset="0"/>
                <a:ea typeface="Georgia" pitchFamily="34" charset="-122"/>
                <a:cs typeface="Georgia" pitchFamily="34" charset="-120"/>
              </a:rPr>
              <a:t>—  </a:t>
            </a:r>
            <a:r>
              <a:rPr lang="en-US" sz="1100" i="1" dirty="0">
                <a:solidFill>
                  <a:srgbClr val="4A4A4A"/>
                </a:solidFill>
                <a:latin typeface="Georgia" pitchFamily="34" charset="0"/>
                <a:ea typeface="Georgia" pitchFamily="34" charset="-122"/>
                <a:cs typeface="Georgia" pitchFamily="34" charset="-120"/>
              </a:rPr>
              <a:t>Class-action rate varies </a:t>
            </a:r>
            <a:r>
              <a:rPr lang="en-US" sz="1100" b="1" i="1" dirty="0">
                <a:solidFill>
                  <a:srgbClr val="4E2A84"/>
                </a:solidFill>
                <a:latin typeface="Georgia" pitchFamily="34" charset="0"/>
                <a:ea typeface="Georgia" pitchFamily="34" charset="-122"/>
                <a:cs typeface="Georgia" pitchFamily="34" charset="-120"/>
              </a:rPr>
              <a:t>15.5%</a:t>
            </a:r>
            <a:r>
              <a:rPr lang="en-US" sz="1100" i="1" dirty="0">
                <a:solidFill>
                  <a:srgbClr val="4A4A4A"/>
                </a:solidFill>
                <a:latin typeface="Georgia" pitchFamily="34" charset="0"/>
                <a:ea typeface="Georgia" pitchFamily="34" charset="-122"/>
                <a:cs typeface="Georgia" pitchFamily="34" charset="-120"/>
              </a:rPr>
              <a:t> (Speech &amp; Voting) to </a:t>
            </a:r>
            <a:r>
              <a:rPr lang="en-US" sz="1100" b="1" i="1" dirty="0">
                <a:solidFill>
                  <a:srgbClr val="4E2A84"/>
                </a:solidFill>
                <a:latin typeface="Georgia" pitchFamily="34" charset="0"/>
                <a:ea typeface="Georgia" pitchFamily="34" charset="-122"/>
                <a:cs typeface="Georgia" pitchFamily="34" charset="-120"/>
              </a:rPr>
              <a:t>57.7%</a:t>
            </a:r>
            <a:r>
              <a:rPr lang="en-US" sz="1100" i="1" dirty="0">
                <a:solidFill>
                  <a:srgbClr val="4A4A4A"/>
                </a:solidFill>
                <a:latin typeface="Georgia" pitchFamily="34" charset="0"/>
                <a:ea typeface="Georgia" pitchFamily="34" charset="-122"/>
                <a:cs typeface="Georgia" pitchFamily="34" charset="-120"/>
              </a:rPr>
              <a:t> (Criminal Justice).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0" y="411480"/>
            <a:ext cx="548640" cy="292608"/>
          </a:xfrm>
          <a:prstGeom prst="rect">
            <a:avLst/>
          </a:prstGeom>
          <a:noFill/>
        </p:spPr>
        <p:txBody>
          <a:bodyPr wrap="square" lIns="0" tIns="0" rIns="0" bIns="0">
            <a:normAutofit/>
          </a:bodyPr>
          <a:lstStyle/>
          <a:p>
            <a:pPr algn="r"/>
            <a:r>
              <a:rPr sz="1100" b="0" i="1" dirty="0">
                <a:solidFill>
                  <a:srgbClr val="858585"/>
                </a:solidFill>
                <a:latin typeface="Georgia"/>
              </a:rPr>
              <a:t>0</a:t>
            </a:r>
            <a:r>
              <a:rPr lang="en-US" altLang="zh-CN" sz="1100" b="0" i="1" dirty="0">
                <a:solidFill>
                  <a:srgbClr val="858585"/>
                </a:solidFill>
                <a:latin typeface="Georgia"/>
              </a:rPr>
              <a:t>4</a:t>
            </a:r>
            <a:endParaRPr sz="1100" b="0" i="1" dirty="0">
              <a:solidFill>
                <a:srgbClr val="858585"/>
              </a:solidFill>
              <a:latin typeface="Georgia"/>
            </a:endParaRPr>
          </a:p>
        </p:txBody>
      </p:sp>
      <p:sp>
        <p:nvSpPr>
          <p:cNvPr id="3" name="TextBox 2"/>
          <p:cNvSpPr txBox="1"/>
          <p:nvPr/>
        </p:nvSpPr>
        <p:spPr>
          <a:xfrm>
            <a:off x="640080" y="411480"/>
            <a:ext cx="6400800" cy="256032"/>
          </a:xfrm>
          <a:prstGeom prst="rect">
            <a:avLst/>
          </a:prstGeom>
          <a:noFill/>
        </p:spPr>
        <p:txBody>
          <a:bodyPr wrap="square" lIns="0" tIns="0" rIns="0" bIns="0">
            <a:normAutofit/>
          </a:bodyPr>
          <a:lstStyle/>
          <a:p>
            <a:r>
              <a:rPr sz="950" b="1" i="0">
                <a:solidFill>
                  <a:srgbClr val="4E2A84"/>
                </a:solidFill>
                <a:latin typeface="Calibri"/>
              </a:rPr>
              <a:t>SUMMARIZATION</a:t>
            </a:r>
          </a:p>
        </p:txBody>
      </p:sp>
      <p:sp>
        <p:nvSpPr>
          <p:cNvPr id="4" name="TextBox 3"/>
          <p:cNvSpPr txBox="1"/>
          <p:nvPr/>
        </p:nvSpPr>
        <p:spPr>
          <a:xfrm>
            <a:off x="640080" y="777240"/>
            <a:ext cx="8229600" cy="502920"/>
          </a:xfrm>
          <a:prstGeom prst="rect">
            <a:avLst/>
          </a:prstGeom>
          <a:noFill/>
        </p:spPr>
        <p:txBody>
          <a:bodyPr wrap="square" lIns="0" tIns="0" rIns="0" bIns="0">
            <a:normAutofit/>
          </a:bodyPr>
          <a:lstStyle/>
          <a:p>
            <a:pPr/>
            <a:r>
              <a:rPr sz="2600" b="1" i="0">
                <a:solidFill>
                  <a:srgbClr val="1A1A1A"/>
                </a:solidFill>
                <a:latin typeface="Georgia"/>
              </a:rPr>
              <a:t>Why extraction comes first</a:t>
            </a:r>
          </a:p>
        </p:txBody>
      </p:sp>
      <p:sp>
        <p:nvSpPr>
          <p:cNvPr id="5" name="TextBox 4"/>
          <p:cNvSpPr txBox="1"/>
          <p:nvPr/>
        </p:nvSpPr>
        <p:spPr>
          <a:xfrm>
            <a:off x="658368" y="1344168"/>
            <a:ext cx="8229600" cy="320040"/>
          </a:xfrm>
          <a:prstGeom prst="rect">
            <a:avLst/>
          </a:prstGeom>
          <a:noFill/>
        </p:spPr>
        <p:txBody>
          <a:bodyPr wrap="square" lIns="0" tIns="0" rIns="0" bIns="0">
            <a:normAutofit/>
          </a:bodyPr>
          <a:lstStyle/>
          <a:p>
            <a:pPr/>
            <a:r>
              <a:rPr sz="1200" b="0" i="1">
                <a:solidFill>
                  <a:srgbClr val="4A4A4A"/>
                </a:solidFill>
                <a:latin typeface="Calibri"/>
              </a:rPr>
              <a:t>The data is long; the design question is how to ground generation without blowing up context or cost.</a:t>
            </a:r>
          </a:p>
        </p:txBody>
      </p:sp>
      <p:sp>
        <p:nvSpPr>
          <p:cNvPr id="6" name="TextBox 5"/>
          <p:cNvSpPr txBox="1"/>
          <p:nvPr/>
        </p:nvSpPr>
        <p:spPr>
          <a:xfrm>
            <a:off x="640080" y="1874519"/>
            <a:ext cx="3611880" cy="256032"/>
          </a:xfrm>
          <a:prstGeom prst="rect">
            <a:avLst/>
          </a:prstGeom>
          <a:noFill/>
        </p:spPr>
        <p:txBody>
          <a:bodyPr wrap="square" lIns="0" rIns="0" tIns="0" bIns="0">
            <a:normAutofit/>
          </a:bodyPr>
          <a:lstStyle/>
          <a:p>
            <a:pPr/>
            <a:r>
              <a:rPr sz="950" b="1" i="0">
                <a:solidFill>
                  <a:srgbClr val="858585"/>
                </a:solidFill>
                <a:latin typeface="Calibri"/>
              </a:rPr>
              <a:t>DESIGN CONSTRAINT</a:t>
            </a:r>
          </a:p>
        </p:txBody>
      </p:sp>
      <p:sp>
        <p:nvSpPr>
          <p:cNvPr id="7" name="TextBox 6"/>
          <p:cNvSpPr txBox="1"/>
          <p:nvPr/>
        </p:nvSpPr>
        <p:spPr>
          <a:xfrm>
            <a:off x="640080" y="2212848"/>
            <a:ext cx="3611880" cy="868680"/>
          </a:xfrm>
          <a:prstGeom prst="rect">
            <a:avLst/>
          </a:prstGeom>
          <a:noFill/>
        </p:spPr>
        <p:txBody>
          <a:bodyPr wrap="square" lIns="0" rIns="0" tIns="0" bIns="0">
            <a:normAutofit/>
          </a:bodyPr>
          <a:lstStyle/>
          <a:p>
            <a:pPr/>
            <a:r>
              <a:rPr sz="1500" b="0" i="0">
                <a:solidFill>
                  <a:srgbClr val="1A1A1A"/>
                </a:solidFill>
                <a:latin typeface="Calibri"/>
              </a:rPr>
              <a:t>A median case is already </a:t>
            </a:r>
            <a:r>
              <a:rPr sz="1500" b="1" i="0">
                <a:solidFill>
                  <a:srgbClr val="4E2A84"/>
                </a:solidFill>
                <a:latin typeface="Calibri"/>
              </a:rPr>
              <a:t>44.8K tokens</a:t>
            </a:r>
            <a:r>
              <a:rPr sz="1500" b="0" i="0">
                <a:solidFill>
                  <a:srgbClr val="1A1A1A"/>
                </a:solidFill>
                <a:latin typeface="Calibri"/>
              </a:rPr>
              <a:t>, but BART-style generation sees roughly </a:t>
            </a:r>
            <a:r>
              <a:rPr sz="1500" b="1" i="0">
                <a:solidFill>
                  <a:srgbClr val="4E2A84"/>
                </a:solidFill>
                <a:latin typeface="Calibri"/>
              </a:rPr>
              <a:t>1K tokens</a:t>
            </a:r>
            <a:r>
              <a:rPr sz="1500" b="0" i="0">
                <a:solidFill>
                  <a:srgbClr val="1A1A1A"/>
                </a:solidFill>
                <a:latin typeface="Calibri"/>
              </a:rPr>
              <a:t> at once.</a:t>
            </a:r>
          </a:p>
        </p:txBody>
      </p:sp>
      <p:sp>
        <p:nvSpPr>
          <p:cNvPr id="8" name="TextBox 7"/>
          <p:cNvSpPr txBox="1"/>
          <p:nvPr/>
        </p:nvSpPr>
        <p:spPr>
          <a:xfrm>
            <a:off x="658368" y="3310128"/>
            <a:ext cx="3520440" cy="868680"/>
          </a:xfrm>
          <a:prstGeom prst="rect">
            <a:avLst/>
          </a:prstGeom>
          <a:noFill/>
        </p:spPr>
        <p:txBody>
          <a:bodyPr wrap="square" lIns="0" rIns="0" tIns="0" bIns="0">
            <a:normAutofit/>
          </a:bodyPr>
          <a:lstStyle/>
          <a:p>
            <a:pPr/>
            <a:r>
              <a:rPr sz="1120" b="0" i="0">
                <a:solidFill>
                  <a:srgbClr val="858585"/>
                </a:solidFill>
                <a:latin typeface="Calibri"/>
              </a:rPr>
              <a:t>If we feed only the lead pages, the model misses filings, remedies, and procedural posture. If we use long-context models everywhere, runtime and memory dominate the project.</a:t>
            </a:r>
          </a:p>
        </p:txBody>
      </p:sp>
      <p:sp>
        <p:nvSpPr>
          <p:cNvPr id="9" name="TextBox 8"/>
          <p:cNvSpPr txBox="1"/>
          <p:nvPr/>
        </p:nvSpPr>
        <p:spPr>
          <a:xfrm>
            <a:off x="4663440" y="1874519"/>
            <a:ext cx="4160520" cy="256032"/>
          </a:xfrm>
          <a:prstGeom prst="rect">
            <a:avLst/>
          </a:prstGeom>
          <a:noFill/>
        </p:spPr>
        <p:txBody>
          <a:bodyPr wrap="square" lIns="0" rIns="0" tIns="0" bIns="0">
            <a:normAutofit/>
          </a:bodyPr>
          <a:lstStyle/>
          <a:p>
            <a:pPr/>
            <a:r>
              <a:rPr sz="950" b="1" i="0">
                <a:solidFill>
                  <a:srgbClr val="858585"/>
                </a:solidFill>
                <a:latin typeface="Calibri"/>
              </a:rPr>
              <a:t>WHAT WE DO INSTEAD</a:t>
            </a:r>
          </a:p>
        </p:txBody>
      </p:sp>
      <p:sp>
        <p:nvSpPr>
          <p:cNvPr id="10" name="Rounded Rectangle 9"/>
          <p:cNvSpPr/>
          <p:nvPr/>
        </p:nvSpPr>
        <p:spPr>
          <a:xfrm>
            <a:off x="4663440" y="2240280"/>
            <a:ext cx="3886200" cy="566928"/>
          </a:xfrm>
          <a:prstGeom prst="roundRect">
            <a:avLst/>
          </a:prstGeom>
          <a:solidFill>
            <a:srgbClr val="FFFFFF"/>
          </a:solidFill>
          <a:ln w="12700">
            <a:solidFill>
              <a:srgbClr val="4E2A84"/>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rmAutofit/>
          </a:bodyPr>
          <a:lstStyle/>
          <a:p>
            <a:pPr algn="ctr"/>
            <a:r>
              <a:rPr sz="940" b="0">
                <a:solidFill>
                  <a:srgbClr val="1A1A1A"/>
                </a:solidFill>
                <a:latin typeface="Calibri"/>
              </a:rPr>
              <a:t>Full case
tens of thousands of tokens</a:t>
            </a:r>
          </a:p>
        </p:txBody>
      </p:sp>
      <p:sp>
        <p:nvSpPr>
          <p:cNvPr id="12" name="Down Arrow 11"/>
          <p:cNvSpPr/>
          <p:nvPr/>
        </p:nvSpPr>
        <p:spPr>
          <a:xfrm>
            <a:off x="6355080" y="2852928"/>
            <a:ext cx="256032" cy="228600"/>
          </a:xfrm>
          <a:prstGeom prst="downArrow">
            <a:avLst/>
          </a:prstGeom>
          <a:solidFill>
            <a:srgbClr val="858585"/>
          </a:solidFill>
          <a:ln>
            <a:solidFill>
              <a:srgbClr val="8585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3090672"/>
            <a:ext cx="3886200" cy="566928"/>
          </a:xfrm>
          <a:prstGeom prst="roundRect">
            <a:avLst/>
          </a:prstGeom>
          <a:solidFill>
            <a:srgbClr val="FFFFFF"/>
          </a:solidFill>
          <a:ln w="12700">
            <a:solidFill>
              <a:srgbClr val="007F8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rmAutofit/>
          </a:bodyPr>
          <a:lstStyle/>
          <a:p>
            <a:pPr algn="ctr"/>
            <a:r>
              <a:rPr sz="940" b="0">
                <a:solidFill>
                  <a:srgbClr val="1A1A1A"/>
                </a:solidFill>
                <a:latin typeface="Calibri"/>
              </a:rPr>
              <a:t>LexRank evidence packet
3,500 selected tokens</a:t>
            </a:r>
          </a:p>
        </p:txBody>
      </p:sp>
      <p:sp>
        <p:nvSpPr>
          <p:cNvPr id="15" name="Down Arrow 14"/>
          <p:cNvSpPr/>
          <p:nvPr/>
        </p:nvSpPr>
        <p:spPr>
          <a:xfrm>
            <a:off x="6355080" y="3703320"/>
            <a:ext cx="256032" cy="228600"/>
          </a:xfrm>
          <a:prstGeom prst="downArrow">
            <a:avLst/>
          </a:prstGeom>
          <a:solidFill>
            <a:srgbClr val="858585"/>
          </a:solidFill>
          <a:ln>
            <a:solidFill>
              <a:srgbClr val="8585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63440" y="3941063"/>
            <a:ext cx="3886200" cy="566928"/>
          </a:xfrm>
          <a:prstGeom prst="roundRect">
            <a:avLst/>
          </a:prstGeom>
          <a:solidFill>
            <a:srgbClr val="FFFFFF"/>
          </a:solidFill>
          <a:ln w="12700">
            <a:solidFill>
              <a:srgbClr val="9A7E3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rmAutofit/>
          </a:bodyPr>
          <a:lstStyle/>
          <a:p>
            <a:pPr algn="ctr"/>
            <a:r>
              <a:rPr sz="940" b="0">
                <a:solidFill>
                  <a:srgbClr val="1A1A1A"/>
                </a:solidFill>
                <a:latin typeface="Calibri"/>
              </a:rPr>
              <a:t>BART/T5 generation
long, short, tiny</a:t>
            </a:r>
          </a:p>
        </p:txBody>
      </p:sp>
      <p:sp>
        <p:nvSpPr>
          <p:cNvPr id="18" name="Rectangle 17"/>
          <p:cNvSpPr/>
          <p:nvPr/>
        </p:nvSpPr>
        <p:spPr>
          <a:xfrm>
            <a:off x="640080" y="4617720"/>
            <a:ext cx="7909560" cy="347472"/>
          </a:xfrm>
          <a:prstGeom prst="rect">
            <a:avLst/>
          </a:prstGeom>
          <a:solidFill>
            <a:srgbClr val="F4EFF8"/>
          </a:solidFill>
          <a:ln w="12700">
            <a:solidFill>
              <a:srgbClr val="F4EFF8"/>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36576" bIns="36576">
            <a:normAutofit/>
          </a:bodyPr>
          <a:lstStyle/>
          <a:p>
            <a:pPr algn="ctr"/>
            <a:r>
              <a:rPr sz="1060" b="1">
                <a:solidFill>
                  <a:srgbClr val="4E2A84"/>
                </a:solidFill>
                <a:latin typeface="Calibri"/>
              </a:rPr>
              <a:t>Key idea: extractive reduction is not the final summary; it is the grounding layer that makes abstractive summarization feasible.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0" y="411480"/>
            <a:ext cx="548640" cy="292608"/>
          </a:xfrm>
          <a:prstGeom prst="rect">
            <a:avLst/>
          </a:prstGeom>
          <a:noFill/>
        </p:spPr>
        <p:txBody>
          <a:bodyPr wrap="square" lIns="0" tIns="0" rIns="0" bIns="0">
            <a:normAutofit/>
          </a:bodyPr>
          <a:lstStyle/>
          <a:p>
            <a:pPr algn="r"/>
            <a:r>
              <a:rPr lang="en-US" altLang="zh-CN" sz="1100" i="1" dirty="0">
                <a:solidFill>
                  <a:srgbClr val="858585"/>
                </a:solidFill>
                <a:latin typeface="Georgia"/>
              </a:rPr>
              <a:t>5</a:t>
            </a:r>
            <a:endParaRPr sz="1100" b="0" i="1" dirty="0">
              <a:solidFill>
                <a:srgbClr val="858585"/>
              </a:solidFill>
              <a:latin typeface="Georgia"/>
            </a:endParaRPr>
          </a:p>
        </p:txBody>
      </p:sp>
      <p:sp>
        <p:nvSpPr>
          <p:cNvPr id="3" name="TextBox 2"/>
          <p:cNvSpPr txBox="1"/>
          <p:nvPr/>
        </p:nvSpPr>
        <p:spPr>
          <a:xfrm>
            <a:off x="640080" y="411480"/>
            <a:ext cx="6400800" cy="256032"/>
          </a:xfrm>
          <a:prstGeom prst="rect">
            <a:avLst/>
          </a:prstGeom>
          <a:noFill/>
        </p:spPr>
        <p:txBody>
          <a:bodyPr wrap="square" lIns="0" tIns="0" rIns="0" bIns="0">
            <a:normAutofit/>
          </a:bodyPr>
          <a:lstStyle/>
          <a:p>
            <a:r>
              <a:rPr sz="950" b="1" i="0">
                <a:solidFill>
                  <a:srgbClr val="4E2A84"/>
                </a:solidFill>
                <a:latin typeface="Calibri"/>
              </a:rPr>
              <a:t>PIPELINE</a:t>
            </a:r>
          </a:p>
        </p:txBody>
      </p:sp>
      <p:sp>
        <p:nvSpPr>
          <p:cNvPr id="4" name="TextBox 3"/>
          <p:cNvSpPr txBox="1"/>
          <p:nvPr/>
        </p:nvSpPr>
        <p:spPr>
          <a:xfrm>
            <a:off x="640080" y="777240"/>
            <a:ext cx="8229600" cy="502920"/>
          </a:xfrm>
          <a:prstGeom prst="rect">
            <a:avLst/>
          </a:prstGeom>
          <a:noFill/>
        </p:spPr>
        <p:txBody>
          <a:bodyPr wrap="square" lIns="0" tIns="0" rIns="0" bIns="0">
            <a:normAutofit/>
          </a:bodyPr>
          <a:lstStyle/>
          <a:p>
            <a:r>
              <a:rPr sz="2600" b="1" i="0">
                <a:solidFill>
                  <a:srgbClr val="1A1A1A"/>
                </a:solidFill>
                <a:latin typeface="Georgia"/>
              </a:rPr>
              <a:t>Extract -&gt; abstract -&gt; compress</a:t>
            </a:r>
          </a:p>
        </p:txBody>
      </p:sp>
      <p:sp>
        <p:nvSpPr>
          <p:cNvPr id="5" name="TextBox 4"/>
          <p:cNvSpPr txBox="1"/>
          <p:nvPr/>
        </p:nvSpPr>
        <p:spPr>
          <a:xfrm>
            <a:off x="658368" y="1344168"/>
            <a:ext cx="8229600" cy="320040"/>
          </a:xfrm>
          <a:prstGeom prst="rect">
            <a:avLst/>
          </a:prstGeom>
          <a:noFill/>
        </p:spPr>
        <p:txBody>
          <a:bodyPr wrap="square" lIns="0" tIns="0" rIns="0" bIns="0">
            <a:normAutofit/>
          </a:bodyPr>
          <a:lstStyle/>
          <a:p>
            <a:r>
              <a:rPr sz="1200" b="0" i="1">
                <a:solidFill>
                  <a:srgbClr val="4A4A4A"/>
                </a:solidFill>
                <a:latin typeface="Calibri"/>
              </a:rPr>
              <a:t>LexRank creates a 3,500-token evidence packet, then BART and T5 produce the three required granularities.</a:t>
            </a:r>
          </a:p>
        </p:txBody>
      </p:sp>
      <p:sp>
        <p:nvSpPr>
          <p:cNvPr id="6" name="Rectangle 5"/>
          <p:cNvSpPr/>
          <p:nvPr/>
        </p:nvSpPr>
        <p:spPr>
          <a:xfrm>
            <a:off x="640080" y="1828800"/>
            <a:ext cx="8229600" cy="9144"/>
          </a:xfrm>
          <a:prstGeom prst="rect">
            <a:avLst/>
          </a:prstGeom>
          <a:solidFill>
            <a:srgbClr val="DCD4E5"/>
          </a:solidFill>
          <a:ln>
            <a:solidFill>
              <a:srgbClr val="DCD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965960"/>
            <a:ext cx="4572000" cy="256032"/>
          </a:xfrm>
          <a:prstGeom prst="rect">
            <a:avLst/>
          </a:prstGeom>
          <a:noFill/>
        </p:spPr>
        <p:txBody>
          <a:bodyPr wrap="square" lIns="0" tIns="0" rIns="0" bIns="0">
            <a:normAutofit/>
          </a:bodyPr>
          <a:lstStyle/>
          <a:p>
            <a:r>
              <a:rPr sz="950" b="1" i="0">
                <a:solidFill>
                  <a:srgbClr val="858585"/>
                </a:solidFill>
                <a:latin typeface="Calibri"/>
              </a:rPr>
              <a:t>STAGE DESIGN</a:t>
            </a:r>
          </a:p>
        </p:txBody>
      </p:sp>
      <p:sp>
        <p:nvSpPr>
          <p:cNvPr id="8" name="Rectangle 7"/>
          <p:cNvSpPr/>
          <p:nvPr/>
        </p:nvSpPr>
        <p:spPr>
          <a:xfrm>
            <a:off x="640080" y="2240280"/>
            <a:ext cx="5212080" cy="1737360"/>
          </a:xfrm>
          <a:prstGeom prst="rect">
            <a:avLst/>
          </a:prstGeom>
          <a:solidFill>
            <a:srgbClr val="F4EFF8"/>
          </a:solidFill>
          <a:ln w="12700">
            <a:solidFill>
              <a:srgbClr val="DCD4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680" y="2578608"/>
            <a:ext cx="1024128" cy="713232"/>
          </a:xfrm>
          <a:prstGeom prst="roundRect">
            <a:avLst/>
          </a:prstGeom>
          <a:solidFill>
            <a:srgbClr val="FFFFFF"/>
          </a:solidFill>
          <a:ln w="12700">
            <a:solidFill>
              <a:srgbClr val="4E2A84"/>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830" b="0">
                <a:solidFill>
                  <a:srgbClr val="1A1A1A"/>
                </a:solidFill>
                <a:latin typeface="Calibri"/>
              </a:rPr>
              <a:t>Clean case
1.8K-3.0M tokens</a:t>
            </a:r>
          </a:p>
        </p:txBody>
      </p:sp>
      <p:sp>
        <p:nvSpPr>
          <p:cNvPr id="10" name="Right Arrow 9"/>
          <p:cNvSpPr/>
          <p:nvPr/>
        </p:nvSpPr>
        <p:spPr>
          <a:xfrm>
            <a:off x="1929384" y="2834639"/>
            <a:ext cx="201168" cy="182880"/>
          </a:xfrm>
          <a:prstGeom prst="rightArrow">
            <a:avLst/>
          </a:prstGeom>
          <a:solidFill>
            <a:srgbClr val="858585"/>
          </a:solidFill>
          <a:ln>
            <a:solidFill>
              <a:srgbClr val="8585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093976" y="2578608"/>
            <a:ext cx="1024128" cy="713232"/>
          </a:xfrm>
          <a:prstGeom prst="roundRect">
            <a:avLst/>
          </a:prstGeom>
          <a:solidFill>
            <a:srgbClr val="FFFFFF"/>
          </a:solidFill>
          <a:ln w="12700">
            <a:solidFill>
              <a:srgbClr val="007F83"/>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830" b="0">
                <a:solidFill>
                  <a:srgbClr val="1A1A1A"/>
                </a:solidFill>
                <a:latin typeface="Calibri"/>
              </a:rPr>
              <a:t>LexRank
TF-IDF graph + PageRank</a:t>
            </a:r>
          </a:p>
        </p:txBody>
      </p:sp>
      <p:sp>
        <p:nvSpPr>
          <p:cNvPr id="12" name="Right Arrow 11"/>
          <p:cNvSpPr/>
          <p:nvPr/>
        </p:nvSpPr>
        <p:spPr>
          <a:xfrm>
            <a:off x="3154680" y="2834639"/>
            <a:ext cx="201168" cy="182880"/>
          </a:xfrm>
          <a:prstGeom prst="rightArrow">
            <a:avLst/>
          </a:prstGeom>
          <a:solidFill>
            <a:srgbClr val="858585"/>
          </a:solidFill>
          <a:ln>
            <a:solidFill>
              <a:srgbClr val="8585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319272" y="2578608"/>
            <a:ext cx="1024128" cy="713232"/>
          </a:xfrm>
          <a:prstGeom prst="roundRect">
            <a:avLst/>
          </a:prstGeom>
          <a:solidFill>
            <a:srgbClr val="FFFFFF"/>
          </a:solidFill>
          <a:ln w="12700">
            <a:solidFill>
              <a:srgbClr val="9A7E3F"/>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830" b="0">
                <a:solidFill>
                  <a:srgbClr val="1A1A1A"/>
                </a:solidFill>
                <a:latin typeface="Calibri"/>
              </a:rPr>
              <a:t>BART
long + short</a:t>
            </a:r>
          </a:p>
        </p:txBody>
      </p:sp>
      <p:sp>
        <p:nvSpPr>
          <p:cNvPr id="14" name="Right Arrow 13"/>
          <p:cNvSpPr/>
          <p:nvPr/>
        </p:nvSpPr>
        <p:spPr>
          <a:xfrm>
            <a:off x="4379976" y="2834639"/>
            <a:ext cx="201168" cy="182880"/>
          </a:xfrm>
          <a:prstGeom prst="rightArrow">
            <a:avLst/>
          </a:prstGeom>
          <a:solidFill>
            <a:srgbClr val="858585"/>
          </a:solidFill>
          <a:ln>
            <a:solidFill>
              <a:srgbClr val="8585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544568" y="2578608"/>
            <a:ext cx="1024128" cy="713232"/>
          </a:xfrm>
          <a:prstGeom prst="roundRect">
            <a:avLst/>
          </a:prstGeom>
          <a:solidFill>
            <a:srgbClr val="FFFFFF"/>
          </a:solidFill>
          <a:ln w="12700">
            <a:solidFill>
              <a:srgbClr val="3F5E9A"/>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830" b="0">
                <a:solidFill>
                  <a:srgbClr val="1A1A1A"/>
                </a:solidFill>
                <a:latin typeface="Calibri"/>
              </a:rPr>
              <a:t>T5-small
tiny sentence</a:t>
            </a:r>
          </a:p>
        </p:txBody>
      </p:sp>
      <p:sp>
        <p:nvSpPr>
          <p:cNvPr id="16" name="TextBox 15"/>
          <p:cNvSpPr txBox="1"/>
          <p:nvPr/>
        </p:nvSpPr>
        <p:spPr>
          <a:xfrm>
            <a:off x="868680" y="3547872"/>
            <a:ext cx="4754880" cy="256032"/>
          </a:xfrm>
          <a:prstGeom prst="rect">
            <a:avLst/>
          </a:prstGeom>
          <a:noFill/>
        </p:spPr>
        <p:txBody>
          <a:bodyPr wrap="square" lIns="0" tIns="0" rIns="0" bIns="0">
            <a:normAutofit/>
          </a:bodyPr>
          <a:lstStyle/>
          <a:p>
            <a:pPr algn="ctr"/>
            <a:r>
              <a:rPr sz="1000" b="0" i="1">
                <a:solidFill>
                  <a:srgbClr val="1A1A1A"/>
                </a:solidFill>
                <a:latin typeface="Calibri"/>
              </a:rPr>
              <a:t>Shared evidence base reduces hallucination surface before abstractive generation.</a:t>
            </a:r>
          </a:p>
        </p:txBody>
      </p:sp>
      <p:sp>
        <p:nvSpPr>
          <p:cNvPr id="17" name="TextBox 16"/>
          <p:cNvSpPr txBox="1"/>
          <p:nvPr/>
        </p:nvSpPr>
        <p:spPr>
          <a:xfrm>
            <a:off x="6253018" y="1920240"/>
            <a:ext cx="2634950" cy="347472"/>
          </a:xfrm>
          <a:prstGeom prst="rect">
            <a:avLst/>
          </a:prstGeom>
          <a:noFill/>
        </p:spPr>
        <p:txBody>
          <a:bodyPr wrap="square" lIns="0" tIns="0" rIns="0" bIns="0">
            <a:normAutofit fontScale="47500" lnSpcReduction="20000"/>
          </a:bodyPr>
          <a:lstStyle/>
          <a:p>
            <a:r>
              <a:rPr sz="3100" b="1" i="0" dirty="0">
                <a:solidFill>
                  <a:srgbClr val="4E2A84"/>
                </a:solidFill>
                <a:latin typeface="Georgia"/>
              </a:rPr>
              <a:t>FULL CASE -&gt; 3 OUTPUTS</a:t>
            </a:r>
          </a:p>
        </p:txBody>
      </p:sp>
      <p:sp>
        <p:nvSpPr>
          <p:cNvPr id="18" name="TextBox 17"/>
          <p:cNvSpPr txBox="1"/>
          <p:nvPr/>
        </p:nvSpPr>
        <p:spPr>
          <a:xfrm>
            <a:off x="6053328" y="2670048"/>
            <a:ext cx="2788920" cy="347472"/>
          </a:xfrm>
          <a:prstGeom prst="rect">
            <a:avLst/>
          </a:prstGeom>
          <a:noFill/>
        </p:spPr>
        <p:txBody>
          <a:bodyPr wrap="square" lIns="0" tIns="0" rIns="0" bIns="0">
            <a:normAutofit/>
          </a:bodyPr>
          <a:lstStyle/>
          <a:p>
            <a:r>
              <a:rPr sz="1050" b="0" i="1">
                <a:solidFill>
                  <a:srgbClr val="858585"/>
                </a:solidFill>
                <a:latin typeface="Calibri"/>
              </a:rPr>
              <a:t>One pipeline returns {long, short, tiny}.  92.0% median reduction on test.</a:t>
            </a:r>
          </a:p>
        </p:txBody>
      </p:sp>
      <p:sp>
        <p:nvSpPr>
          <p:cNvPr id="19" name="TextBox 18"/>
          <p:cNvSpPr txBox="1"/>
          <p:nvPr/>
        </p:nvSpPr>
        <p:spPr>
          <a:xfrm>
            <a:off x="6053328" y="3090672"/>
            <a:ext cx="1874519" cy="201168"/>
          </a:xfrm>
          <a:prstGeom prst="rect">
            <a:avLst/>
          </a:prstGeom>
          <a:noFill/>
        </p:spPr>
        <p:txBody>
          <a:bodyPr wrap="square" lIns="0" tIns="0" rIns="0" bIns="0">
            <a:normAutofit/>
          </a:bodyPr>
          <a:lstStyle/>
          <a:p>
            <a:r>
              <a:rPr sz="1000" b="0" i="0">
                <a:solidFill>
                  <a:srgbClr val="1A1A1A"/>
                </a:solidFill>
                <a:latin typeface="Calibri"/>
              </a:rPr>
              <a:t>Candidate cap</a:t>
            </a:r>
          </a:p>
        </p:txBody>
      </p:sp>
      <p:sp>
        <p:nvSpPr>
          <p:cNvPr id="20" name="TextBox 19"/>
          <p:cNvSpPr txBox="1"/>
          <p:nvPr/>
        </p:nvSpPr>
        <p:spPr>
          <a:xfrm>
            <a:off x="7845552" y="3090672"/>
            <a:ext cx="502920" cy="201168"/>
          </a:xfrm>
          <a:prstGeom prst="rect">
            <a:avLst/>
          </a:prstGeom>
          <a:noFill/>
        </p:spPr>
        <p:txBody>
          <a:bodyPr wrap="square" lIns="0" tIns="0" rIns="0" bIns="0">
            <a:normAutofit/>
          </a:bodyPr>
          <a:lstStyle/>
          <a:p>
            <a:pPr algn="r"/>
            <a:r>
              <a:rPr sz="1050" b="1" i="0">
                <a:solidFill>
                  <a:srgbClr val="4E2A84"/>
                </a:solidFill>
                <a:latin typeface="Georgia"/>
              </a:rPr>
              <a:t>650</a:t>
            </a:r>
          </a:p>
        </p:txBody>
      </p:sp>
      <p:sp>
        <p:nvSpPr>
          <p:cNvPr id="21" name="TextBox 20"/>
          <p:cNvSpPr txBox="1"/>
          <p:nvPr/>
        </p:nvSpPr>
        <p:spPr>
          <a:xfrm>
            <a:off x="8339327" y="3090672"/>
            <a:ext cx="457200" cy="201168"/>
          </a:xfrm>
          <a:prstGeom prst="rect">
            <a:avLst/>
          </a:prstGeom>
          <a:noFill/>
        </p:spPr>
        <p:txBody>
          <a:bodyPr wrap="square" lIns="0" tIns="0" rIns="0" bIns="0">
            <a:normAutofit/>
          </a:bodyPr>
          <a:lstStyle/>
          <a:p>
            <a:pPr algn="r"/>
            <a:r>
              <a:rPr sz="950" b="0" i="0">
                <a:solidFill>
                  <a:srgbClr val="858585"/>
                </a:solidFill>
                <a:latin typeface="Calibri"/>
              </a:rPr>
              <a:t>sent.</a:t>
            </a:r>
          </a:p>
        </p:txBody>
      </p:sp>
      <p:sp>
        <p:nvSpPr>
          <p:cNvPr id="22" name="TextBox 21"/>
          <p:cNvSpPr txBox="1"/>
          <p:nvPr/>
        </p:nvSpPr>
        <p:spPr>
          <a:xfrm>
            <a:off x="6053328" y="3337560"/>
            <a:ext cx="1874519" cy="201168"/>
          </a:xfrm>
          <a:prstGeom prst="rect">
            <a:avLst/>
          </a:prstGeom>
          <a:noFill/>
        </p:spPr>
        <p:txBody>
          <a:bodyPr wrap="square" lIns="0" tIns="0" rIns="0" bIns="0">
            <a:normAutofit/>
          </a:bodyPr>
          <a:lstStyle/>
          <a:p>
            <a:r>
              <a:rPr sz="1000" b="0" i="0">
                <a:solidFill>
                  <a:srgbClr val="1A1A1A"/>
                </a:solidFill>
                <a:latin typeface="Calibri"/>
              </a:rPr>
              <a:t>LexRank edge</a:t>
            </a:r>
          </a:p>
        </p:txBody>
      </p:sp>
      <p:sp>
        <p:nvSpPr>
          <p:cNvPr id="23" name="TextBox 22"/>
          <p:cNvSpPr txBox="1"/>
          <p:nvPr/>
        </p:nvSpPr>
        <p:spPr>
          <a:xfrm>
            <a:off x="7845552" y="3337560"/>
            <a:ext cx="502920" cy="201168"/>
          </a:xfrm>
          <a:prstGeom prst="rect">
            <a:avLst/>
          </a:prstGeom>
          <a:noFill/>
        </p:spPr>
        <p:txBody>
          <a:bodyPr wrap="square" lIns="0" tIns="0" rIns="0" bIns="0">
            <a:normAutofit/>
          </a:bodyPr>
          <a:lstStyle/>
          <a:p>
            <a:pPr algn="r"/>
            <a:r>
              <a:rPr sz="1050" b="1" i="0">
                <a:solidFill>
                  <a:srgbClr val="4E2A84"/>
                </a:solidFill>
                <a:latin typeface="Georgia"/>
              </a:rPr>
              <a:t>0.10</a:t>
            </a:r>
          </a:p>
        </p:txBody>
      </p:sp>
      <p:sp>
        <p:nvSpPr>
          <p:cNvPr id="24" name="TextBox 23"/>
          <p:cNvSpPr txBox="1"/>
          <p:nvPr/>
        </p:nvSpPr>
        <p:spPr>
          <a:xfrm>
            <a:off x="8339327" y="3337560"/>
            <a:ext cx="457200" cy="201168"/>
          </a:xfrm>
          <a:prstGeom prst="rect">
            <a:avLst/>
          </a:prstGeom>
          <a:noFill/>
        </p:spPr>
        <p:txBody>
          <a:bodyPr wrap="square" lIns="0" tIns="0" rIns="0" bIns="0">
            <a:normAutofit/>
          </a:bodyPr>
          <a:lstStyle/>
          <a:p>
            <a:pPr algn="r"/>
            <a:r>
              <a:rPr sz="950" b="0" i="0">
                <a:solidFill>
                  <a:srgbClr val="858585"/>
                </a:solidFill>
                <a:latin typeface="Calibri"/>
              </a:rPr>
              <a:t>cos</a:t>
            </a:r>
          </a:p>
        </p:txBody>
      </p:sp>
      <p:sp>
        <p:nvSpPr>
          <p:cNvPr id="25" name="TextBox 24"/>
          <p:cNvSpPr txBox="1"/>
          <p:nvPr/>
        </p:nvSpPr>
        <p:spPr>
          <a:xfrm>
            <a:off x="6053328" y="3584448"/>
            <a:ext cx="1874519" cy="201168"/>
          </a:xfrm>
          <a:prstGeom prst="rect">
            <a:avLst/>
          </a:prstGeom>
          <a:noFill/>
        </p:spPr>
        <p:txBody>
          <a:bodyPr wrap="square" lIns="0" tIns="0" rIns="0" bIns="0">
            <a:normAutofit/>
          </a:bodyPr>
          <a:lstStyle/>
          <a:p>
            <a:r>
              <a:rPr sz="1000" b="0" i="0">
                <a:solidFill>
                  <a:srgbClr val="1A1A1A"/>
                </a:solidFill>
                <a:latin typeface="Calibri"/>
              </a:rPr>
              <a:t>Evidence packet</a:t>
            </a:r>
          </a:p>
        </p:txBody>
      </p:sp>
      <p:sp>
        <p:nvSpPr>
          <p:cNvPr id="26" name="TextBox 25"/>
          <p:cNvSpPr txBox="1"/>
          <p:nvPr/>
        </p:nvSpPr>
        <p:spPr>
          <a:xfrm>
            <a:off x="7845552" y="3584448"/>
            <a:ext cx="502920" cy="201168"/>
          </a:xfrm>
          <a:prstGeom prst="rect">
            <a:avLst/>
          </a:prstGeom>
          <a:noFill/>
        </p:spPr>
        <p:txBody>
          <a:bodyPr wrap="square" lIns="0" tIns="0" rIns="0" bIns="0">
            <a:normAutofit/>
          </a:bodyPr>
          <a:lstStyle/>
          <a:p>
            <a:pPr algn="r"/>
            <a:r>
              <a:rPr sz="1050" b="1" i="0">
                <a:solidFill>
                  <a:srgbClr val="4E2A84"/>
                </a:solidFill>
                <a:latin typeface="Georgia"/>
              </a:rPr>
              <a:t>3.5K</a:t>
            </a:r>
          </a:p>
        </p:txBody>
      </p:sp>
      <p:sp>
        <p:nvSpPr>
          <p:cNvPr id="27" name="TextBox 26"/>
          <p:cNvSpPr txBox="1"/>
          <p:nvPr/>
        </p:nvSpPr>
        <p:spPr>
          <a:xfrm>
            <a:off x="8339327" y="3584448"/>
            <a:ext cx="457200" cy="201168"/>
          </a:xfrm>
          <a:prstGeom prst="rect">
            <a:avLst/>
          </a:prstGeom>
          <a:noFill/>
        </p:spPr>
        <p:txBody>
          <a:bodyPr wrap="square" lIns="0" tIns="0" rIns="0" bIns="0">
            <a:normAutofit/>
          </a:bodyPr>
          <a:lstStyle/>
          <a:p>
            <a:pPr algn="r"/>
            <a:r>
              <a:rPr sz="950" b="0" i="0">
                <a:solidFill>
                  <a:srgbClr val="858585"/>
                </a:solidFill>
                <a:latin typeface="Calibri"/>
              </a:rPr>
              <a:t>tok.</a:t>
            </a:r>
          </a:p>
        </p:txBody>
      </p:sp>
      <p:sp>
        <p:nvSpPr>
          <p:cNvPr id="28" name="TextBox 27"/>
          <p:cNvSpPr txBox="1"/>
          <p:nvPr/>
        </p:nvSpPr>
        <p:spPr>
          <a:xfrm>
            <a:off x="6053328" y="3831335"/>
            <a:ext cx="1874519" cy="201168"/>
          </a:xfrm>
          <a:prstGeom prst="rect">
            <a:avLst/>
          </a:prstGeom>
          <a:noFill/>
        </p:spPr>
        <p:txBody>
          <a:bodyPr wrap="square" lIns="0" tIns="0" rIns="0" bIns="0">
            <a:normAutofit/>
          </a:bodyPr>
          <a:lstStyle/>
          <a:p>
            <a:r>
              <a:rPr sz="1000" b="0" i="0">
                <a:solidFill>
                  <a:srgbClr val="1A1A1A"/>
                </a:solidFill>
                <a:latin typeface="Calibri"/>
              </a:rPr>
              <a:t>BART decode</a:t>
            </a:r>
          </a:p>
        </p:txBody>
      </p:sp>
      <p:sp>
        <p:nvSpPr>
          <p:cNvPr id="29" name="TextBox 28"/>
          <p:cNvSpPr txBox="1"/>
          <p:nvPr/>
        </p:nvSpPr>
        <p:spPr>
          <a:xfrm>
            <a:off x="7845552" y="3831335"/>
            <a:ext cx="502920" cy="201168"/>
          </a:xfrm>
          <a:prstGeom prst="rect">
            <a:avLst/>
          </a:prstGeom>
          <a:noFill/>
        </p:spPr>
        <p:txBody>
          <a:bodyPr wrap="square" lIns="0" tIns="0" rIns="0" bIns="0">
            <a:normAutofit/>
          </a:bodyPr>
          <a:lstStyle/>
          <a:p>
            <a:pPr algn="r"/>
            <a:r>
              <a:rPr sz="1050" b="1" i="0">
                <a:solidFill>
                  <a:srgbClr val="4E2A84"/>
                </a:solidFill>
                <a:latin typeface="Georgia"/>
              </a:rPr>
              <a:t>4</a:t>
            </a:r>
          </a:p>
        </p:txBody>
      </p:sp>
      <p:sp>
        <p:nvSpPr>
          <p:cNvPr id="30" name="TextBox 29"/>
          <p:cNvSpPr txBox="1"/>
          <p:nvPr/>
        </p:nvSpPr>
        <p:spPr>
          <a:xfrm>
            <a:off x="8339327" y="3831335"/>
            <a:ext cx="457200" cy="201168"/>
          </a:xfrm>
          <a:prstGeom prst="rect">
            <a:avLst/>
          </a:prstGeom>
          <a:noFill/>
        </p:spPr>
        <p:txBody>
          <a:bodyPr wrap="square" lIns="0" tIns="0" rIns="0" bIns="0">
            <a:normAutofit/>
          </a:bodyPr>
          <a:lstStyle/>
          <a:p>
            <a:pPr algn="r"/>
            <a:r>
              <a:rPr sz="950" b="0" i="0">
                <a:solidFill>
                  <a:srgbClr val="858585"/>
                </a:solidFill>
                <a:latin typeface="Calibri"/>
              </a:rPr>
              <a:t>beams</a:t>
            </a:r>
          </a:p>
        </p:txBody>
      </p:sp>
      <p:sp>
        <p:nvSpPr>
          <p:cNvPr id="31" name="TextBox 30"/>
          <p:cNvSpPr txBox="1"/>
          <p:nvPr/>
        </p:nvSpPr>
        <p:spPr>
          <a:xfrm>
            <a:off x="6053328" y="4078224"/>
            <a:ext cx="1874519" cy="201168"/>
          </a:xfrm>
          <a:prstGeom prst="rect">
            <a:avLst/>
          </a:prstGeom>
          <a:noFill/>
        </p:spPr>
        <p:txBody>
          <a:bodyPr wrap="square" lIns="0" tIns="0" rIns="0" bIns="0">
            <a:normAutofit/>
          </a:bodyPr>
          <a:lstStyle/>
          <a:p>
            <a:r>
              <a:rPr sz="1000" b="0" i="0">
                <a:solidFill>
                  <a:srgbClr val="1A1A1A"/>
                </a:solidFill>
                <a:latin typeface="Calibri"/>
              </a:rPr>
              <a:t>T5 tiny lr</a:t>
            </a:r>
          </a:p>
        </p:txBody>
      </p:sp>
      <p:sp>
        <p:nvSpPr>
          <p:cNvPr id="32" name="TextBox 31"/>
          <p:cNvSpPr txBox="1"/>
          <p:nvPr/>
        </p:nvSpPr>
        <p:spPr>
          <a:xfrm>
            <a:off x="7845552" y="4078224"/>
            <a:ext cx="502920" cy="201168"/>
          </a:xfrm>
          <a:prstGeom prst="rect">
            <a:avLst/>
          </a:prstGeom>
          <a:noFill/>
        </p:spPr>
        <p:txBody>
          <a:bodyPr wrap="square" lIns="0" tIns="0" rIns="0" bIns="0">
            <a:normAutofit/>
          </a:bodyPr>
          <a:lstStyle/>
          <a:p>
            <a:pPr algn="r"/>
            <a:r>
              <a:rPr sz="1050" b="1" i="0">
                <a:solidFill>
                  <a:srgbClr val="4E2A84"/>
                </a:solidFill>
                <a:latin typeface="Georgia"/>
              </a:rPr>
              <a:t>5e-5</a:t>
            </a:r>
          </a:p>
        </p:txBody>
      </p:sp>
      <p:sp>
        <p:nvSpPr>
          <p:cNvPr id="33" name="TextBox 32"/>
          <p:cNvSpPr txBox="1"/>
          <p:nvPr/>
        </p:nvSpPr>
        <p:spPr>
          <a:xfrm>
            <a:off x="8339327" y="4078224"/>
            <a:ext cx="457200" cy="201168"/>
          </a:xfrm>
          <a:prstGeom prst="rect">
            <a:avLst/>
          </a:prstGeom>
          <a:noFill/>
        </p:spPr>
        <p:txBody>
          <a:bodyPr wrap="square" lIns="0" tIns="0" rIns="0" bIns="0">
            <a:normAutofit/>
          </a:bodyPr>
          <a:lstStyle/>
          <a:p>
            <a:pPr algn="r"/>
            <a:r>
              <a:rPr sz="950" b="0" i="0">
                <a:solidFill>
                  <a:srgbClr val="858585"/>
                </a:solidFill>
                <a:latin typeface="Calibri"/>
              </a:rPr>
              <a:t>rate</a:t>
            </a:r>
          </a:p>
        </p:txBody>
      </p:sp>
      <p:sp>
        <p:nvSpPr>
          <p:cNvPr id="34" name="TextBox 33"/>
          <p:cNvSpPr txBox="1"/>
          <p:nvPr/>
        </p:nvSpPr>
        <p:spPr>
          <a:xfrm>
            <a:off x="640080" y="4681728"/>
            <a:ext cx="8229600" cy="310896"/>
          </a:xfrm>
          <a:prstGeom prst="rect">
            <a:avLst/>
          </a:prstGeom>
          <a:noFill/>
        </p:spPr>
        <p:txBody>
          <a:bodyPr wrap="square" lIns="0" tIns="0" rIns="0" bIns="0">
            <a:normAutofit/>
          </a:bodyPr>
          <a:lstStyle/>
          <a:p>
            <a:r>
              <a:rPr sz="1100" b="1" i="1">
                <a:solidFill>
                  <a:srgbClr val="9A7E3F"/>
                </a:solidFill>
                <a:latin typeface="Georgia"/>
              </a:rPr>
              <a:t>Key finding: </a:t>
            </a:r>
            <a:r>
              <a:rPr sz="1100" b="1" i="1">
                <a:solidFill>
                  <a:srgbClr val="4E2A84"/>
                </a:solidFill>
                <a:latin typeface="Georgia"/>
              </a:rPr>
              <a:t>extract first, generate second</a:t>
            </a:r>
            <a:r>
              <a:rPr sz="1100" b="1" i="1">
                <a:solidFill>
                  <a:srgbClr val="9A7E3F"/>
                </a:solidFill>
                <a:latin typeface="Georgia"/>
              </a:rPr>
              <a:t> keeps local inference tractable for legal-length sources.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0" y="411480"/>
            <a:ext cx="548640" cy="292608"/>
          </a:xfrm>
          <a:prstGeom prst="rect">
            <a:avLst/>
          </a:prstGeom>
          <a:noFill/>
        </p:spPr>
        <p:txBody>
          <a:bodyPr wrap="square" lIns="0" tIns="0" rIns="0" bIns="0">
            <a:normAutofit/>
          </a:bodyPr>
          <a:lstStyle/>
          <a:p>
            <a:pPr algn="r"/>
            <a:r>
              <a:rPr lang="en-US" altLang="zh-CN" sz="1100" i="1" dirty="0">
                <a:solidFill>
                  <a:srgbClr val="858585"/>
                </a:solidFill>
                <a:latin typeface="Georgia"/>
              </a:rPr>
              <a:t>6</a:t>
            </a:r>
            <a:endParaRPr sz="1100" b="0" i="1" dirty="0">
              <a:solidFill>
                <a:srgbClr val="858585"/>
              </a:solidFill>
              <a:latin typeface="Georgia"/>
            </a:endParaRPr>
          </a:p>
        </p:txBody>
      </p:sp>
      <p:sp>
        <p:nvSpPr>
          <p:cNvPr id="3" name="TextBox 2"/>
          <p:cNvSpPr txBox="1"/>
          <p:nvPr/>
        </p:nvSpPr>
        <p:spPr>
          <a:xfrm>
            <a:off x="640080" y="411480"/>
            <a:ext cx="6400800" cy="256032"/>
          </a:xfrm>
          <a:prstGeom prst="rect">
            <a:avLst/>
          </a:prstGeom>
          <a:noFill/>
        </p:spPr>
        <p:txBody>
          <a:bodyPr wrap="square" lIns="0" tIns="0" rIns="0" bIns="0">
            <a:normAutofit/>
          </a:bodyPr>
          <a:lstStyle/>
          <a:p>
            <a:r>
              <a:rPr sz="950" b="1" i="0">
                <a:solidFill>
                  <a:srgbClr val="4E2A84"/>
                </a:solidFill>
                <a:latin typeface="Calibri"/>
              </a:rPr>
              <a:t>RESULTS</a:t>
            </a:r>
          </a:p>
        </p:txBody>
      </p:sp>
      <p:sp>
        <p:nvSpPr>
          <p:cNvPr id="4" name="TextBox 3"/>
          <p:cNvSpPr txBox="1"/>
          <p:nvPr/>
        </p:nvSpPr>
        <p:spPr>
          <a:xfrm>
            <a:off x="640080" y="777240"/>
            <a:ext cx="8229600" cy="502920"/>
          </a:xfrm>
          <a:prstGeom prst="rect">
            <a:avLst/>
          </a:prstGeom>
          <a:noFill/>
        </p:spPr>
        <p:txBody>
          <a:bodyPr wrap="square" lIns="0" tIns="0" rIns="0" bIns="0">
            <a:normAutofit/>
          </a:bodyPr>
          <a:lstStyle/>
          <a:p>
            <a:r>
              <a:rPr sz="2600" b="1" i="0">
                <a:solidFill>
                  <a:srgbClr val="1A1A1A"/>
                </a:solidFill>
                <a:latin typeface="Georgia"/>
              </a:rPr>
              <a:t>Summarization smoke results</a:t>
            </a:r>
          </a:p>
        </p:txBody>
      </p:sp>
      <p:sp>
        <p:nvSpPr>
          <p:cNvPr id="5" name="TextBox 4"/>
          <p:cNvSpPr txBox="1"/>
          <p:nvPr/>
        </p:nvSpPr>
        <p:spPr>
          <a:xfrm>
            <a:off x="658368" y="1344168"/>
            <a:ext cx="8229600" cy="320040"/>
          </a:xfrm>
          <a:prstGeom prst="rect">
            <a:avLst/>
          </a:prstGeom>
          <a:noFill/>
        </p:spPr>
        <p:txBody>
          <a:bodyPr wrap="square" lIns="0" tIns="0" rIns="0" bIns="0">
            <a:normAutofit/>
          </a:bodyPr>
          <a:lstStyle/>
          <a:p>
            <a:r>
              <a:rPr sz="1200" b="0" i="1">
                <a:solidFill>
                  <a:srgbClr val="4A4A4A"/>
                </a:solidFill>
                <a:latin typeface="Calibri"/>
              </a:rPr>
              <a:t>End-to-end path verified on 2 test cases; run full test split before final claims.</a:t>
            </a:r>
          </a:p>
        </p:txBody>
      </p:sp>
      <p:graphicFrame>
        <p:nvGraphicFramePr>
          <p:cNvPr id="6" name="Table 5"/>
          <p:cNvGraphicFramePr>
            <a:graphicFrameLocks noGrp="1"/>
          </p:cNvGraphicFramePr>
          <p:nvPr/>
        </p:nvGraphicFramePr>
        <p:xfrm>
          <a:off x="640080" y="1920240"/>
          <a:ext cx="7909560" cy="1737360"/>
        </p:xfrm>
        <a:graphic>
          <a:graphicData uri="http://schemas.openxmlformats.org/drawingml/2006/table">
            <a:tbl>
              <a:tblPr firstRow="1" bandRow="1">
                <a:tableStyleId>{5C22544A-7EE6-4342-B048-85BDC9FD1C3A}</a:tableStyleId>
              </a:tblPr>
              <a:tblGrid>
                <a:gridCol w="1318260">
                  <a:extLst>
                    <a:ext uri="{9D8B030D-6E8A-4147-A177-3AD203B41FA5}">
                      <a16:colId xmlns:a16="http://schemas.microsoft.com/office/drawing/2014/main" val="20000"/>
                    </a:ext>
                  </a:extLst>
                </a:gridCol>
                <a:gridCol w="1318260">
                  <a:extLst>
                    <a:ext uri="{9D8B030D-6E8A-4147-A177-3AD203B41FA5}">
                      <a16:colId xmlns:a16="http://schemas.microsoft.com/office/drawing/2014/main" val="20001"/>
                    </a:ext>
                  </a:extLst>
                </a:gridCol>
                <a:gridCol w="1318260">
                  <a:extLst>
                    <a:ext uri="{9D8B030D-6E8A-4147-A177-3AD203B41FA5}">
                      <a16:colId xmlns:a16="http://schemas.microsoft.com/office/drawing/2014/main" val="20002"/>
                    </a:ext>
                  </a:extLst>
                </a:gridCol>
                <a:gridCol w="1318260">
                  <a:extLst>
                    <a:ext uri="{9D8B030D-6E8A-4147-A177-3AD203B41FA5}">
                      <a16:colId xmlns:a16="http://schemas.microsoft.com/office/drawing/2014/main" val="20003"/>
                    </a:ext>
                  </a:extLst>
                </a:gridCol>
                <a:gridCol w="1318260">
                  <a:extLst>
                    <a:ext uri="{9D8B030D-6E8A-4147-A177-3AD203B41FA5}">
                      <a16:colId xmlns:a16="http://schemas.microsoft.com/office/drawing/2014/main" val="20004"/>
                    </a:ext>
                  </a:extLst>
                </a:gridCol>
                <a:gridCol w="1318260">
                  <a:extLst>
                    <a:ext uri="{9D8B030D-6E8A-4147-A177-3AD203B41FA5}">
                      <a16:colId xmlns:a16="http://schemas.microsoft.com/office/drawing/2014/main" val="20005"/>
                    </a:ext>
                  </a:extLst>
                </a:gridCol>
              </a:tblGrid>
              <a:tr h="347472">
                <a:tc>
                  <a:txBody>
                    <a:bodyPr/>
                    <a:lstStyle/>
                    <a:p>
                      <a:pPr>
                        <a:defRPr sz="840" b="1">
                          <a:solidFill>
                            <a:srgbClr val="FFFFFF"/>
                          </a:solidFill>
                          <a:latin typeface="Calibri"/>
                        </a:defRPr>
                      </a:pPr>
                      <a:r>
                        <a:t>Output</a:t>
                      </a:r>
                    </a:p>
                  </a:txBody>
                  <a:tcPr>
                    <a:solidFill>
                      <a:srgbClr val="4E2A84"/>
                    </a:solidFill>
                  </a:tcPr>
                </a:tc>
                <a:tc>
                  <a:txBody>
                    <a:bodyPr/>
                    <a:lstStyle/>
                    <a:p>
                      <a:pPr>
                        <a:defRPr sz="840" b="1">
                          <a:solidFill>
                            <a:srgbClr val="FFFFFF"/>
                          </a:solidFill>
                          <a:latin typeface="Calibri"/>
                        </a:defRPr>
                      </a:pPr>
                      <a:r>
                        <a:t>ROUGE-1</a:t>
                      </a:r>
                    </a:p>
                  </a:txBody>
                  <a:tcPr>
                    <a:solidFill>
                      <a:srgbClr val="4E2A84"/>
                    </a:solidFill>
                  </a:tcPr>
                </a:tc>
                <a:tc>
                  <a:txBody>
                    <a:bodyPr/>
                    <a:lstStyle/>
                    <a:p>
                      <a:pPr>
                        <a:defRPr sz="840" b="1">
                          <a:solidFill>
                            <a:srgbClr val="FFFFFF"/>
                          </a:solidFill>
                          <a:latin typeface="Calibri"/>
                        </a:defRPr>
                      </a:pPr>
                      <a:r>
                        <a:t>ROUGE-2</a:t>
                      </a:r>
                    </a:p>
                  </a:txBody>
                  <a:tcPr>
                    <a:solidFill>
                      <a:srgbClr val="4E2A84"/>
                    </a:solidFill>
                  </a:tcPr>
                </a:tc>
                <a:tc>
                  <a:txBody>
                    <a:bodyPr/>
                    <a:lstStyle/>
                    <a:p>
                      <a:pPr>
                        <a:defRPr sz="840" b="1">
                          <a:solidFill>
                            <a:srgbClr val="FFFFFF"/>
                          </a:solidFill>
                          <a:latin typeface="Calibri"/>
                        </a:defRPr>
                      </a:pPr>
                      <a:r>
                        <a:t>ROUGE-L</a:t>
                      </a:r>
                    </a:p>
                  </a:txBody>
                  <a:tcPr>
                    <a:solidFill>
                      <a:srgbClr val="4E2A84"/>
                    </a:solidFill>
                  </a:tcPr>
                </a:tc>
                <a:tc>
                  <a:txBody>
                    <a:bodyPr/>
                    <a:lstStyle/>
                    <a:p>
                      <a:pPr>
                        <a:defRPr sz="840" b="1">
                          <a:solidFill>
                            <a:srgbClr val="FFFFFF"/>
                          </a:solidFill>
                          <a:latin typeface="Calibri"/>
                        </a:defRPr>
                      </a:pPr>
                      <a:r>
                        <a:t>BERTScore</a:t>
                      </a:r>
                    </a:p>
                  </a:txBody>
                  <a:tcPr>
                    <a:solidFill>
                      <a:srgbClr val="4E2A84"/>
                    </a:solidFill>
                  </a:tcPr>
                </a:tc>
                <a:tc>
                  <a:txBody>
                    <a:bodyPr/>
                    <a:lstStyle/>
                    <a:p>
                      <a:pPr>
                        <a:defRPr sz="840" b="1">
                          <a:solidFill>
                            <a:srgbClr val="FFFFFF"/>
                          </a:solidFill>
                          <a:latin typeface="Calibri"/>
                        </a:defRPr>
                      </a:pPr>
                      <a:r>
                        <a:t>Scope</a:t>
                      </a:r>
                    </a:p>
                  </a:txBody>
                  <a:tcPr>
                    <a:solidFill>
                      <a:srgbClr val="4E2A84"/>
                    </a:solidFill>
                  </a:tcPr>
                </a:tc>
                <a:extLst>
                  <a:ext uri="{0D108BD9-81ED-4DB2-BD59-A6C34878D82A}">
                    <a16:rowId xmlns:a16="http://schemas.microsoft.com/office/drawing/2014/main" val="10000"/>
                  </a:ext>
                </a:extLst>
              </a:tr>
              <a:tr h="347472">
                <a:tc>
                  <a:txBody>
                    <a:bodyPr/>
                    <a:lstStyle/>
                    <a:p>
                      <a:pPr>
                        <a:defRPr sz="840" b="1">
                          <a:solidFill>
                            <a:srgbClr val="4E2A84"/>
                          </a:solidFill>
                          <a:latin typeface="Calibri"/>
                        </a:defRPr>
                      </a:pPr>
                      <a:r>
                        <a:t>long</a:t>
                      </a:r>
                    </a:p>
                  </a:txBody>
                  <a:tcPr>
                    <a:solidFill>
                      <a:srgbClr val="FFFFFF"/>
                    </a:solidFill>
                  </a:tcPr>
                </a:tc>
                <a:tc>
                  <a:txBody>
                    <a:bodyPr/>
                    <a:lstStyle/>
                    <a:p>
                      <a:pPr algn="r">
                        <a:defRPr sz="840" b="0">
                          <a:solidFill>
                            <a:srgbClr val="4E2A84"/>
                          </a:solidFill>
                          <a:latin typeface="Calibri"/>
                        </a:defRPr>
                      </a:pPr>
                      <a:r>
                        <a:t>0.214</a:t>
                      </a:r>
                    </a:p>
                  </a:txBody>
                  <a:tcPr>
                    <a:solidFill>
                      <a:srgbClr val="FFFFFF"/>
                    </a:solidFill>
                  </a:tcPr>
                </a:tc>
                <a:tc>
                  <a:txBody>
                    <a:bodyPr/>
                    <a:lstStyle/>
                    <a:p>
                      <a:pPr algn="r">
                        <a:defRPr sz="840" b="0">
                          <a:solidFill>
                            <a:srgbClr val="1A1A1A"/>
                          </a:solidFill>
                          <a:latin typeface="Calibri"/>
                        </a:defRPr>
                      </a:pPr>
                      <a:r>
                        <a:t>0.068</a:t>
                      </a:r>
                    </a:p>
                  </a:txBody>
                  <a:tcPr>
                    <a:solidFill>
                      <a:srgbClr val="FFFFFF"/>
                    </a:solidFill>
                  </a:tcPr>
                </a:tc>
                <a:tc>
                  <a:txBody>
                    <a:bodyPr/>
                    <a:lstStyle/>
                    <a:p>
                      <a:pPr algn="r">
                        <a:defRPr sz="840" b="0">
                          <a:solidFill>
                            <a:srgbClr val="1A1A1A"/>
                          </a:solidFill>
                          <a:latin typeface="Calibri"/>
                        </a:defRPr>
                      </a:pPr>
                      <a:r>
                        <a:t>0.124</a:t>
                      </a:r>
                    </a:p>
                  </a:txBody>
                  <a:tcPr>
                    <a:solidFill>
                      <a:srgbClr val="FFFFFF"/>
                    </a:solidFill>
                  </a:tcPr>
                </a:tc>
                <a:tc>
                  <a:txBody>
                    <a:bodyPr/>
                    <a:lstStyle/>
                    <a:p>
                      <a:pPr algn="r">
                        <a:defRPr sz="840" b="0">
                          <a:solidFill>
                            <a:srgbClr val="1A1A1A"/>
                          </a:solidFill>
                          <a:latin typeface="Calibri"/>
                        </a:defRPr>
                      </a:pPr>
                      <a:r>
                        <a:t>0.740</a:t>
                      </a:r>
                    </a:p>
                  </a:txBody>
                  <a:tcPr>
                    <a:solidFill>
                      <a:srgbClr val="FFFFFF"/>
                    </a:solidFill>
                  </a:tcPr>
                </a:tc>
                <a:tc>
                  <a:txBody>
                    <a:bodyPr/>
                    <a:lstStyle/>
                    <a:p>
                      <a:pPr>
                        <a:defRPr sz="840" b="0">
                          <a:solidFill>
                            <a:srgbClr val="1A1A1A"/>
                          </a:solidFill>
                          <a:latin typeface="Calibri"/>
                        </a:defRPr>
                      </a:pPr>
                      <a:r>
                        <a:t>n=2 smoke</a:t>
                      </a:r>
                    </a:p>
                  </a:txBody>
                  <a:tcPr>
                    <a:solidFill>
                      <a:srgbClr val="FFFFFF"/>
                    </a:solidFill>
                  </a:tcPr>
                </a:tc>
                <a:extLst>
                  <a:ext uri="{0D108BD9-81ED-4DB2-BD59-A6C34878D82A}">
                    <a16:rowId xmlns:a16="http://schemas.microsoft.com/office/drawing/2014/main" val="10001"/>
                  </a:ext>
                </a:extLst>
              </a:tr>
              <a:tr h="347472">
                <a:tc>
                  <a:txBody>
                    <a:bodyPr/>
                    <a:lstStyle/>
                    <a:p>
                      <a:pPr>
                        <a:defRPr sz="840" b="1">
                          <a:solidFill>
                            <a:srgbClr val="4E2A84"/>
                          </a:solidFill>
                          <a:latin typeface="Calibri"/>
                        </a:defRPr>
                      </a:pPr>
                      <a:r>
                        <a:t>short</a:t>
                      </a:r>
                    </a:p>
                  </a:txBody>
                  <a:tcPr>
                    <a:solidFill>
                      <a:srgbClr val="FAF8FC"/>
                    </a:solidFill>
                  </a:tcPr>
                </a:tc>
                <a:tc>
                  <a:txBody>
                    <a:bodyPr/>
                    <a:lstStyle/>
                    <a:p>
                      <a:pPr algn="r">
                        <a:defRPr sz="840" b="0">
                          <a:solidFill>
                            <a:srgbClr val="4E2A84"/>
                          </a:solidFill>
                          <a:latin typeface="Calibri"/>
                        </a:defRPr>
                      </a:pPr>
                      <a:r>
                        <a:t>0.278</a:t>
                      </a:r>
                    </a:p>
                  </a:txBody>
                  <a:tcPr>
                    <a:solidFill>
                      <a:srgbClr val="FAF8FC"/>
                    </a:solidFill>
                  </a:tcPr>
                </a:tc>
                <a:tc>
                  <a:txBody>
                    <a:bodyPr/>
                    <a:lstStyle/>
                    <a:p>
                      <a:pPr algn="r">
                        <a:defRPr sz="840" b="0">
                          <a:solidFill>
                            <a:srgbClr val="1A1A1A"/>
                          </a:solidFill>
                          <a:latin typeface="Calibri"/>
                        </a:defRPr>
                      </a:pPr>
                      <a:r>
                        <a:t>0.084</a:t>
                      </a:r>
                    </a:p>
                  </a:txBody>
                  <a:tcPr>
                    <a:solidFill>
                      <a:srgbClr val="FAF8FC"/>
                    </a:solidFill>
                  </a:tcPr>
                </a:tc>
                <a:tc>
                  <a:txBody>
                    <a:bodyPr/>
                    <a:lstStyle/>
                    <a:p>
                      <a:pPr algn="r">
                        <a:defRPr sz="840" b="0">
                          <a:solidFill>
                            <a:srgbClr val="1A1A1A"/>
                          </a:solidFill>
                          <a:latin typeface="Calibri"/>
                        </a:defRPr>
                      </a:pPr>
                      <a:r>
                        <a:t>0.187</a:t>
                      </a:r>
                    </a:p>
                  </a:txBody>
                  <a:tcPr>
                    <a:solidFill>
                      <a:srgbClr val="FAF8FC"/>
                    </a:solidFill>
                  </a:tcPr>
                </a:tc>
                <a:tc>
                  <a:txBody>
                    <a:bodyPr/>
                    <a:lstStyle/>
                    <a:p>
                      <a:pPr algn="r">
                        <a:defRPr sz="840" b="0">
                          <a:solidFill>
                            <a:srgbClr val="1A1A1A"/>
                          </a:solidFill>
                          <a:latin typeface="Calibri"/>
                        </a:defRPr>
                      </a:pPr>
                      <a:r>
                        <a:t>0.749</a:t>
                      </a:r>
                    </a:p>
                  </a:txBody>
                  <a:tcPr>
                    <a:solidFill>
                      <a:srgbClr val="FAF8FC"/>
                    </a:solidFill>
                  </a:tcPr>
                </a:tc>
                <a:tc>
                  <a:txBody>
                    <a:bodyPr/>
                    <a:lstStyle/>
                    <a:p>
                      <a:pPr>
                        <a:defRPr sz="840" b="0">
                          <a:solidFill>
                            <a:srgbClr val="1A1A1A"/>
                          </a:solidFill>
                          <a:latin typeface="Calibri"/>
                        </a:defRPr>
                      </a:pPr>
                      <a:r>
                        <a:t>n=2 smoke</a:t>
                      </a:r>
                    </a:p>
                  </a:txBody>
                  <a:tcPr>
                    <a:solidFill>
                      <a:srgbClr val="FAF8FC"/>
                    </a:solidFill>
                  </a:tcPr>
                </a:tc>
                <a:extLst>
                  <a:ext uri="{0D108BD9-81ED-4DB2-BD59-A6C34878D82A}">
                    <a16:rowId xmlns:a16="http://schemas.microsoft.com/office/drawing/2014/main" val="10002"/>
                  </a:ext>
                </a:extLst>
              </a:tr>
              <a:tr h="347472">
                <a:tc>
                  <a:txBody>
                    <a:bodyPr/>
                    <a:lstStyle/>
                    <a:p>
                      <a:pPr>
                        <a:defRPr sz="840" b="1">
                          <a:solidFill>
                            <a:srgbClr val="4E2A84"/>
                          </a:solidFill>
                          <a:latin typeface="Calibri"/>
                        </a:defRPr>
                      </a:pPr>
                      <a:r>
                        <a:t>tiny</a:t>
                      </a:r>
                    </a:p>
                  </a:txBody>
                  <a:tcPr>
                    <a:solidFill>
                      <a:srgbClr val="FFFFFF"/>
                    </a:solidFill>
                  </a:tcPr>
                </a:tc>
                <a:tc>
                  <a:txBody>
                    <a:bodyPr/>
                    <a:lstStyle/>
                    <a:p>
                      <a:pPr algn="r">
                        <a:defRPr sz="840" b="0">
                          <a:solidFill>
                            <a:srgbClr val="4E2A84"/>
                          </a:solidFill>
                          <a:latin typeface="Calibri"/>
                        </a:defRPr>
                      </a:pPr>
                      <a:r>
                        <a:t>0.245</a:t>
                      </a:r>
                    </a:p>
                  </a:txBody>
                  <a:tcPr>
                    <a:solidFill>
                      <a:srgbClr val="FFFFFF"/>
                    </a:solidFill>
                  </a:tcPr>
                </a:tc>
                <a:tc>
                  <a:txBody>
                    <a:bodyPr/>
                    <a:lstStyle/>
                    <a:p>
                      <a:pPr algn="r">
                        <a:defRPr sz="840" b="0">
                          <a:solidFill>
                            <a:srgbClr val="1A1A1A"/>
                          </a:solidFill>
                          <a:latin typeface="Calibri"/>
                        </a:defRPr>
                      </a:pPr>
                      <a:r>
                        <a:t>0.118</a:t>
                      </a:r>
                    </a:p>
                  </a:txBody>
                  <a:tcPr>
                    <a:solidFill>
                      <a:srgbClr val="FFFFFF"/>
                    </a:solidFill>
                  </a:tcPr>
                </a:tc>
                <a:tc>
                  <a:txBody>
                    <a:bodyPr/>
                    <a:lstStyle/>
                    <a:p>
                      <a:pPr algn="r">
                        <a:defRPr sz="840" b="0">
                          <a:solidFill>
                            <a:srgbClr val="1A1A1A"/>
                          </a:solidFill>
                          <a:latin typeface="Calibri"/>
                        </a:defRPr>
                      </a:pPr>
                      <a:r>
                        <a:t>0.151</a:t>
                      </a:r>
                    </a:p>
                  </a:txBody>
                  <a:tcPr>
                    <a:solidFill>
                      <a:srgbClr val="FFFFFF"/>
                    </a:solidFill>
                  </a:tcPr>
                </a:tc>
                <a:tc>
                  <a:txBody>
                    <a:bodyPr/>
                    <a:lstStyle/>
                    <a:p>
                      <a:pPr algn="r">
                        <a:defRPr sz="840" b="0">
                          <a:solidFill>
                            <a:srgbClr val="1A1A1A"/>
                          </a:solidFill>
                          <a:latin typeface="Calibri"/>
                        </a:defRPr>
                      </a:pPr>
                      <a:r>
                        <a:t>0.735</a:t>
                      </a:r>
                    </a:p>
                  </a:txBody>
                  <a:tcPr>
                    <a:solidFill>
                      <a:srgbClr val="FFFFFF"/>
                    </a:solidFill>
                  </a:tcPr>
                </a:tc>
                <a:tc>
                  <a:txBody>
                    <a:bodyPr/>
                    <a:lstStyle/>
                    <a:p>
                      <a:pPr>
                        <a:defRPr sz="840" b="0">
                          <a:solidFill>
                            <a:srgbClr val="1A1A1A"/>
                          </a:solidFill>
                          <a:latin typeface="Calibri"/>
                        </a:defRPr>
                      </a:pPr>
                      <a:r>
                        <a:t>n=2 smoke</a:t>
                      </a:r>
                    </a:p>
                  </a:txBody>
                  <a:tcPr>
                    <a:solidFill>
                      <a:srgbClr val="FFFFFF"/>
                    </a:solidFill>
                  </a:tcPr>
                </a:tc>
                <a:extLst>
                  <a:ext uri="{0D108BD9-81ED-4DB2-BD59-A6C34878D82A}">
                    <a16:rowId xmlns:a16="http://schemas.microsoft.com/office/drawing/2014/main" val="10003"/>
                  </a:ext>
                </a:extLst>
              </a:tr>
              <a:tr h="347472">
                <a:tc>
                  <a:txBody>
                    <a:bodyPr/>
                    <a:lstStyle/>
                    <a:p>
                      <a:pPr>
                        <a:defRPr sz="840" b="1">
                          <a:solidFill>
                            <a:srgbClr val="4E2A84"/>
                          </a:solidFill>
                          <a:latin typeface="Calibri"/>
                        </a:defRPr>
                      </a:pPr>
                      <a:r>
                        <a:t>Stage A</a:t>
                      </a:r>
                    </a:p>
                  </a:txBody>
                  <a:tcPr>
                    <a:solidFill>
                      <a:srgbClr val="FAF8FC"/>
                    </a:solidFill>
                  </a:tcPr>
                </a:tc>
                <a:tc>
                  <a:txBody>
                    <a:bodyPr/>
                    <a:lstStyle/>
                    <a:p>
                      <a:pPr algn="r">
                        <a:defRPr sz="840" b="0">
                          <a:solidFill>
                            <a:srgbClr val="4E2A84"/>
                          </a:solidFill>
                          <a:latin typeface="Calibri"/>
                        </a:defRPr>
                      </a:pPr>
                      <a:r>
                        <a:t>92.0%</a:t>
                      </a:r>
                    </a:p>
                  </a:txBody>
                  <a:tcPr>
                    <a:solidFill>
                      <a:srgbClr val="FAF8FC"/>
                    </a:solidFill>
                  </a:tcPr>
                </a:tc>
                <a:tc>
                  <a:txBody>
                    <a:bodyPr/>
                    <a:lstStyle/>
                    <a:p>
                      <a:pPr algn="r">
                        <a:defRPr sz="840" b="0">
                          <a:solidFill>
                            <a:srgbClr val="1A1A1A"/>
                          </a:solidFill>
                          <a:latin typeface="Calibri"/>
                        </a:defRPr>
                      </a:pPr>
                      <a:endParaRPr/>
                    </a:p>
                  </a:txBody>
                  <a:tcPr>
                    <a:solidFill>
                      <a:srgbClr val="FAF8FC"/>
                    </a:solidFill>
                  </a:tcPr>
                </a:tc>
                <a:tc>
                  <a:txBody>
                    <a:bodyPr/>
                    <a:lstStyle/>
                    <a:p>
                      <a:pPr algn="r">
                        <a:defRPr sz="840" b="0">
                          <a:solidFill>
                            <a:srgbClr val="1A1A1A"/>
                          </a:solidFill>
                          <a:latin typeface="Calibri"/>
                        </a:defRPr>
                      </a:pPr>
                      <a:r>
                        <a:t>median</a:t>
                      </a:r>
                    </a:p>
                  </a:txBody>
                  <a:tcPr>
                    <a:solidFill>
                      <a:srgbClr val="FAF8FC"/>
                    </a:solidFill>
                  </a:tcPr>
                </a:tc>
                <a:tc>
                  <a:txBody>
                    <a:bodyPr/>
                    <a:lstStyle/>
                    <a:p>
                      <a:pPr algn="r">
                        <a:defRPr sz="840" b="0">
                          <a:solidFill>
                            <a:srgbClr val="1A1A1A"/>
                          </a:solidFill>
                          <a:latin typeface="Calibri"/>
                        </a:defRPr>
                      </a:pPr>
                      <a:r>
                        <a:t>reduction</a:t>
                      </a:r>
                    </a:p>
                  </a:txBody>
                  <a:tcPr>
                    <a:solidFill>
                      <a:srgbClr val="FAF8FC"/>
                    </a:solidFill>
                  </a:tcPr>
                </a:tc>
                <a:tc>
                  <a:txBody>
                    <a:bodyPr/>
                    <a:lstStyle/>
                    <a:p>
                      <a:pPr>
                        <a:defRPr sz="840" b="0">
                          <a:solidFill>
                            <a:srgbClr val="1A1A1A"/>
                          </a:solidFill>
                          <a:latin typeface="Calibri"/>
                        </a:defRPr>
                      </a:pPr>
                      <a:r>
                        <a:t>n=312 test</a:t>
                      </a:r>
                    </a:p>
                  </a:txBody>
                  <a:tcPr>
                    <a:solidFill>
                      <a:srgbClr val="FAF8FC"/>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640080" y="4224528"/>
            <a:ext cx="7909560" cy="640080"/>
          </a:xfrm>
          <a:prstGeom prst="rect">
            <a:avLst/>
          </a:prstGeom>
          <a:solidFill>
            <a:srgbClr val="F4EFF8"/>
          </a:solidFill>
          <a:ln w="12700">
            <a:solidFill>
              <a:srgbClr val="F4EFF8"/>
            </a:solidFill>
          </a:ln>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rmAutofit/>
          </a:bodyPr>
          <a:lstStyle/>
          <a:p>
            <a:pPr algn="ctr"/>
            <a:r>
              <a:rPr sz="1000" b="1">
                <a:solidFill>
                  <a:srgbClr val="4E2A84"/>
                </a:solidFill>
                <a:latin typeface="Calibri"/>
              </a:rPr>
              <a:t>Good case: CJ-AL-0020 preserves plaintiff, fines, jail term, and inability-to-pay facts.  Failure risk: CJ-AL-0007/T5 tiny repeats source wording and keeps OCR noise such as "impowrished".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07</a:t>
            </a:r>
            <a:endParaRPr lang="en-US" sz="1100" dirty="0"/>
          </a:p>
        </p:txBody>
      </p:sp>
      <p:sp>
        <p:nvSpPr>
          <p:cNvPr id="3" name="Text 1"/>
          <p:cNvSpPr/>
          <p:nvPr/>
        </p:nvSpPr>
        <p:spPr>
          <a:xfrm>
            <a:off x="640080" y="411480"/>
            <a:ext cx="64008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CLASSIFICATION</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Two tasks, four models</a:t>
            </a:r>
            <a:endParaRPr lang="en-US" sz="2600" dirty="0"/>
          </a:p>
        </p:txBody>
      </p:sp>
      <p:sp>
        <p:nvSpPr>
          <p:cNvPr id="5" name="Text 3"/>
          <p:cNvSpPr/>
          <p:nvPr/>
        </p:nvSpPr>
        <p:spPr>
          <a:xfrm>
            <a:off x="658368" y="1371600"/>
            <a:ext cx="8229600" cy="365760"/>
          </a:xfrm>
          <a:prstGeom prst="rect">
            <a:avLst/>
          </a:prstGeom>
          <a:noFill/>
          <a:ln/>
        </p:spPr>
        <p:txBody>
          <a:bodyPr wrap="square" lIns="0" tIns="0" rIns="0" bIns="0" rtlCol="0" anchor="ctr"/>
          <a:lstStyle/>
          <a:p>
            <a:pPr marL="0" indent="0">
              <a:buNone/>
            </a:pPr>
            <a:r>
              <a:rPr lang="en-US" sz="1200" i="1" dirty="0">
                <a:solidFill>
                  <a:srgbClr val="4A4A4A"/>
                </a:solidFill>
                <a:latin typeface="Calibri" pitchFamily="34" charset="0"/>
                <a:ea typeface="Calibri" pitchFamily="34" charset="-122"/>
                <a:cs typeface="Calibri" pitchFamily="34" charset="-120"/>
              </a:rPr>
              <a:t>From TF-IDF baselines to a Legal-BERT fine-tune, all on the same 1,602-case split.</a:t>
            </a:r>
            <a:endParaRPr lang="en-US" sz="1200" dirty="0"/>
          </a:p>
        </p:txBody>
      </p:sp>
      <p:sp>
        <p:nvSpPr>
          <p:cNvPr id="6" name="Text 4"/>
          <p:cNvSpPr/>
          <p:nvPr/>
        </p:nvSpPr>
        <p:spPr>
          <a:xfrm>
            <a:off x="640080" y="2103120"/>
            <a:ext cx="3657600" cy="274320"/>
          </a:xfrm>
          <a:prstGeom prst="rect">
            <a:avLst/>
          </a:prstGeom>
          <a:noFill/>
          <a:ln/>
        </p:spPr>
        <p:txBody>
          <a:bodyPr wrap="square" lIns="0" tIns="0" rIns="0" bIns="0" rtlCol="0" anchor="ctr"/>
          <a:lstStyle/>
          <a:p>
            <a:pPr marL="0" indent="0">
              <a:buNone/>
            </a:pPr>
            <a:r>
              <a:rPr lang="en-US" sz="950" b="1" kern="0" spc="500" dirty="0">
                <a:solidFill>
                  <a:srgbClr val="858585"/>
                </a:solidFill>
                <a:latin typeface="Calibri" pitchFamily="34" charset="0"/>
                <a:ea typeface="Calibri" pitchFamily="34" charset="-122"/>
                <a:cs typeface="Calibri" pitchFamily="34" charset="-120"/>
              </a:rPr>
              <a:t>MACRO-F1  LIFT</a:t>
            </a:r>
            <a:endParaRPr lang="en-US" sz="950" dirty="0"/>
          </a:p>
        </p:txBody>
      </p:sp>
      <p:sp>
        <p:nvSpPr>
          <p:cNvPr id="7" name="Text 5"/>
          <p:cNvSpPr/>
          <p:nvPr/>
        </p:nvSpPr>
        <p:spPr>
          <a:xfrm>
            <a:off x="594360" y="2331720"/>
            <a:ext cx="3657600" cy="1051560"/>
          </a:xfrm>
          <a:prstGeom prst="rect">
            <a:avLst/>
          </a:prstGeom>
          <a:noFill/>
          <a:ln/>
        </p:spPr>
        <p:txBody>
          <a:bodyPr wrap="square" lIns="0" tIns="0" rIns="0" bIns="0" rtlCol="0" anchor="ctr"/>
          <a:lstStyle/>
          <a:p>
            <a:pPr marL="0" indent="0" algn="l">
              <a:buNone/>
            </a:pPr>
            <a:r>
              <a:rPr lang="en-US" sz="6800" b="1" dirty="0">
                <a:solidFill>
                  <a:srgbClr val="4E2A84"/>
                </a:solidFill>
                <a:latin typeface="Georgia" pitchFamily="34" charset="0"/>
                <a:ea typeface="Georgia" pitchFamily="34" charset="-122"/>
                <a:cs typeface="Georgia" pitchFamily="34" charset="-120"/>
              </a:rPr>
              <a:t>+17</a:t>
            </a:r>
            <a:endParaRPr lang="en-US" sz="6800" dirty="0"/>
          </a:p>
        </p:txBody>
      </p:sp>
      <p:sp>
        <p:nvSpPr>
          <p:cNvPr id="8" name="Text 6"/>
          <p:cNvSpPr/>
          <p:nvPr/>
        </p:nvSpPr>
        <p:spPr>
          <a:xfrm>
            <a:off x="658368" y="3337560"/>
            <a:ext cx="3657600" cy="320040"/>
          </a:xfrm>
          <a:prstGeom prst="rect">
            <a:avLst/>
          </a:prstGeom>
          <a:noFill/>
          <a:ln/>
        </p:spPr>
        <p:txBody>
          <a:bodyPr wrap="square" lIns="0" tIns="0" rIns="0" bIns="0" rtlCol="0" anchor="ctr"/>
          <a:lstStyle/>
          <a:p>
            <a:pPr marL="0" indent="0">
              <a:buNone/>
            </a:pPr>
            <a:r>
              <a:rPr lang="en-US" sz="1400" i="1" dirty="0">
                <a:solidFill>
                  <a:srgbClr val="1A1A1A"/>
                </a:solidFill>
                <a:latin typeface="Georgia" pitchFamily="34" charset="0"/>
                <a:ea typeface="Georgia" pitchFamily="34" charset="-122"/>
                <a:cs typeface="Georgia" pitchFamily="34" charset="-120"/>
              </a:rPr>
              <a:t>pts  ·  Legal-BERT vs best classical on case_type</a:t>
            </a:r>
            <a:endParaRPr lang="en-US" sz="1400" dirty="0"/>
          </a:p>
        </p:txBody>
      </p:sp>
      <p:sp>
        <p:nvSpPr>
          <p:cNvPr id="9" name="Text 7"/>
          <p:cNvSpPr/>
          <p:nvPr/>
        </p:nvSpPr>
        <p:spPr>
          <a:xfrm>
            <a:off x="658368" y="3840480"/>
            <a:ext cx="4023360" cy="32004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Legal-BERT wins </a:t>
            </a:r>
            <a:r>
              <a:rPr lang="en-US" sz="1250" b="1" dirty="0">
                <a:solidFill>
                  <a:srgbClr val="9A7E3F"/>
                </a:solidFill>
                <a:latin typeface="Calibri" pitchFamily="34" charset="0"/>
                <a:ea typeface="Calibri" pitchFamily="34" charset="-122"/>
                <a:cs typeface="Calibri" pitchFamily="34" charset="-120"/>
              </a:rPr>
              <a:t>both tasks</a:t>
            </a:r>
            <a:r>
              <a:rPr lang="en-US" sz="1250" dirty="0">
                <a:solidFill>
                  <a:srgbClr val="1A1A1A"/>
                </a:solidFill>
                <a:latin typeface="Calibri" pitchFamily="34" charset="0"/>
                <a:ea typeface="Calibri" pitchFamily="34" charset="-122"/>
                <a:cs typeface="Calibri" pitchFamily="34" charset="-120"/>
              </a:rPr>
              <a:t>. The 5-class gap is the bigger story.</a:t>
            </a:r>
            <a:endParaRPr lang="en-US" sz="1250" dirty="0"/>
          </a:p>
        </p:txBody>
      </p:sp>
      <p:sp>
        <p:nvSpPr>
          <p:cNvPr id="10" name="Text 8"/>
          <p:cNvSpPr/>
          <p:nvPr/>
        </p:nvSpPr>
        <p:spPr>
          <a:xfrm>
            <a:off x="658368" y="4206240"/>
            <a:ext cx="4023360" cy="320040"/>
          </a:xfrm>
          <a:prstGeom prst="rect">
            <a:avLst/>
          </a:prstGeom>
          <a:noFill/>
          <a:ln/>
        </p:spPr>
        <p:txBody>
          <a:bodyPr wrap="square" lIns="0" tIns="0" rIns="0" bIns="0" rtlCol="0" anchor="ctr"/>
          <a:lstStyle/>
          <a:p>
            <a:pPr marL="0" indent="0">
              <a:buNone/>
            </a:pPr>
            <a:r>
              <a:rPr lang="en-US" sz="1100" dirty="0">
                <a:solidFill>
                  <a:srgbClr val="858585"/>
                </a:solidFill>
                <a:latin typeface="Calibri" pitchFamily="34" charset="0"/>
                <a:ea typeface="Calibri" pitchFamily="34" charset="-122"/>
                <a:cs typeface="Calibri" pitchFamily="34" charset="-120"/>
              </a:rPr>
              <a:t>Input: long_ref (median ≈ 250 tokens). 1,129 train / 161 val / 312 test.</a:t>
            </a:r>
            <a:endParaRPr lang="en-US" sz="1100" dirty="0"/>
          </a:p>
        </p:txBody>
      </p:sp>
      <p:sp>
        <p:nvSpPr>
          <p:cNvPr id="13" name="Text 11"/>
          <p:cNvSpPr/>
          <p:nvPr/>
        </p:nvSpPr>
        <p:spPr>
          <a:xfrm>
            <a:off x="4663440" y="4023360"/>
            <a:ext cx="4206240" cy="274320"/>
          </a:xfrm>
          <a:prstGeom prst="rect">
            <a:avLst/>
          </a:prstGeom>
          <a:noFill/>
          <a:ln/>
        </p:spPr>
        <p:txBody>
          <a:bodyPr wrap="square" lIns="0" tIns="0" rIns="0" bIns="0" rtlCol="0" anchor="ctr"/>
          <a:lstStyle/>
          <a:p>
            <a:pPr marL="0" indent="0">
              <a:buNone/>
            </a:pPr>
            <a:r>
              <a:rPr lang="en-US" sz="900" i="1" dirty="0">
                <a:solidFill>
                  <a:srgbClr val="858585"/>
                </a:solidFill>
                <a:latin typeface="Calibri" pitchFamily="34" charset="0"/>
                <a:ea typeface="Calibri" pitchFamily="34" charset="-122"/>
                <a:cs typeface="Calibri" pitchFamily="34" charset="-120"/>
              </a:rPr>
              <a:t>Macro F1 (test) for all 4 models × 2 tasks. Both Legal-BERT bars &gt; 0.85.</a:t>
            </a:r>
            <a:endParaRPr lang="en-US" sz="900" dirty="0"/>
          </a:p>
        </p:txBody>
      </p:sp>
      <p:sp>
        <p:nvSpPr>
          <p:cNvPr id="14" name="Shape 12"/>
          <p:cNvSpPr/>
          <p:nvPr/>
        </p:nvSpPr>
        <p:spPr>
          <a:xfrm>
            <a:off x="4663440" y="4389120"/>
            <a:ext cx="4206240" cy="0"/>
          </a:xfrm>
          <a:prstGeom prst="line">
            <a:avLst/>
          </a:prstGeom>
          <a:noFill/>
          <a:ln w="9525">
            <a:solidFill>
              <a:srgbClr val="DCD4E5"/>
            </a:solidFill>
            <a:prstDash val="solid"/>
          </a:ln>
        </p:spPr>
        <p:txBody>
          <a:bodyPr/>
          <a:lstStyle/>
          <a:p>
            <a:endParaRPr lang="zh-CN" altLang="en-US"/>
          </a:p>
        </p:txBody>
      </p:sp>
      <p:sp>
        <p:nvSpPr>
          <p:cNvPr id="15" name="Text 13"/>
          <p:cNvSpPr/>
          <p:nvPr/>
        </p:nvSpPr>
        <p:spPr>
          <a:xfrm>
            <a:off x="4663440" y="4498848"/>
            <a:ext cx="4206240" cy="320040"/>
          </a:xfrm>
          <a:prstGeom prst="rect">
            <a:avLst/>
          </a:prstGeom>
          <a:noFill/>
          <a:ln/>
        </p:spPr>
        <p:txBody>
          <a:bodyPr wrap="square" lIns="0" tIns="0" rIns="0" bIns="0" rtlCol="0" anchor="ctr"/>
          <a:lstStyle/>
          <a:p>
            <a:pPr marL="0" indent="0" algn="l">
              <a:buNone/>
            </a:pPr>
            <a:r>
              <a:rPr lang="en-US" sz="1100" b="1" dirty="0">
                <a:solidFill>
                  <a:srgbClr val="4E2A84"/>
                </a:solidFill>
                <a:latin typeface="Georgia" pitchFamily="34" charset="0"/>
                <a:ea typeface="Georgia" pitchFamily="34" charset="-122"/>
                <a:cs typeface="Georgia" pitchFamily="34" charset="-120"/>
              </a:rPr>
              <a:t>4</a:t>
            </a:r>
            <a:r>
              <a:rPr lang="en-US" sz="1100" dirty="0">
                <a:solidFill>
                  <a:srgbClr val="858585"/>
                </a:solidFill>
                <a:latin typeface="Calibri" pitchFamily="34" charset="0"/>
                <a:ea typeface="Calibri" pitchFamily="34" charset="-122"/>
                <a:cs typeface="Calibri" pitchFamily="34" charset="-120"/>
              </a:rPr>
              <a:t>  models     </a:t>
            </a:r>
            <a:r>
              <a:rPr lang="en-US" sz="1100" b="1" dirty="0">
                <a:solidFill>
                  <a:srgbClr val="4E2A84"/>
                </a:solidFill>
                <a:latin typeface="Georgia" pitchFamily="34" charset="0"/>
                <a:ea typeface="Georgia" pitchFamily="34" charset="-122"/>
                <a:cs typeface="Georgia" pitchFamily="34" charset="-120"/>
              </a:rPr>
              <a:t>2</a:t>
            </a:r>
            <a:r>
              <a:rPr lang="en-US" sz="1100" dirty="0">
                <a:solidFill>
                  <a:srgbClr val="858585"/>
                </a:solidFill>
                <a:latin typeface="Calibri" pitchFamily="34" charset="0"/>
                <a:ea typeface="Calibri" pitchFamily="34" charset="-122"/>
                <a:cs typeface="Calibri" pitchFamily="34" charset="-120"/>
              </a:rPr>
              <a:t>  tasks     </a:t>
            </a:r>
            <a:r>
              <a:rPr lang="en-US" sz="1100" b="1" dirty="0">
                <a:solidFill>
                  <a:srgbClr val="4E2A84"/>
                </a:solidFill>
                <a:latin typeface="Georgia" pitchFamily="34" charset="0"/>
                <a:ea typeface="Georgia" pitchFamily="34" charset="-122"/>
                <a:cs typeface="Georgia" pitchFamily="34" charset="-120"/>
              </a:rPr>
              <a:t>8</a:t>
            </a:r>
            <a:r>
              <a:rPr lang="en-US" sz="1100" dirty="0">
                <a:solidFill>
                  <a:srgbClr val="858585"/>
                </a:solidFill>
                <a:latin typeface="Calibri" pitchFamily="34" charset="0"/>
                <a:ea typeface="Calibri" pitchFamily="34" charset="-122"/>
                <a:cs typeface="Calibri" pitchFamily="34" charset="-120"/>
              </a:rPr>
              <a:t>  runs</a:t>
            </a:r>
            <a:endParaRPr lang="en-US" sz="1100" dirty="0"/>
          </a:p>
        </p:txBody>
      </p:sp>
      <p:pic>
        <p:nvPicPr>
          <p:cNvPr id="16" name="Picture 15" descr="slide7_approach_matrix.png"/>
          <p:cNvPicPr>
            <a:picLocks noChangeAspect="1"/>
          </p:cNvPicPr>
          <p:nvPr/>
        </p:nvPicPr>
        <p:blipFill>
          <a:blip r:embed="rId3"/>
          <a:stretch>
            <a:fillRect/>
          </a:stretch>
        </p:blipFill>
        <p:spPr>
          <a:xfrm>
            <a:off x="4663440" y="2103120"/>
            <a:ext cx="4297680" cy="18745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08</a:t>
            </a:r>
            <a:endParaRPr lang="en-US" sz="1100" dirty="0"/>
          </a:p>
        </p:txBody>
      </p:sp>
      <p:sp>
        <p:nvSpPr>
          <p:cNvPr id="3" name="Text 1"/>
          <p:cNvSpPr/>
          <p:nvPr/>
        </p:nvSpPr>
        <p:spPr>
          <a:xfrm>
            <a:off x="640080" y="411480"/>
            <a:ext cx="64008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RESULTS</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class_action — Legal-BERT lifts F1 by +5.8 pts</a:t>
            </a:r>
            <a:endParaRPr lang="en-US" sz="2600" dirty="0"/>
          </a:p>
        </p:txBody>
      </p:sp>
      <p:sp>
        <p:nvSpPr>
          <p:cNvPr id="5" name="Text 3"/>
          <p:cNvSpPr/>
          <p:nvPr/>
        </p:nvSpPr>
        <p:spPr>
          <a:xfrm>
            <a:off x="658368" y="1325880"/>
            <a:ext cx="822960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Binary task, 312 test cases. AUC ≥ 0.92 for every model; macro F1 separates them.</a:t>
            </a:r>
            <a:endParaRPr lang="en-US" sz="1250" dirty="0"/>
          </a:p>
        </p:txBody>
      </p:sp>
      <p:sp>
        <p:nvSpPr>
          <p:cNvPr id="6" name="Shape 4"/>
          <p:cNvSpPr/>
          <p:nvPr/>
        </p:nvSpPr>
        <p:spPr>
          <a:xfrm>
            <a:off x="640080" y="1828800"/>
            <a:ext cx="8229600" cy="0"/>
          </a:xfrm>
          <a:prstGeom prst="line">
            <a:avLst/>
          </a:prstGeom>
          <a:noFill/>
          <a:ln w="9525">
            <a:solidFill>
              <a:srgbClr val="DCD4E5"/>
            </a:solidFill>
            <a:prstDash val="solid"/>
          </a:ln>
        </p:spPr>
        <p:txBody>
          <a:bodyPr/>
          <a:lstStyle/>
          <a:p>
            <a:endParaRPr lang="zh-CN" altLang="en-US"/>
          </a:p>
        </p:txBody>
      </p:sp>
      <p:sp>
        <p:nvSpPr>
          <p:cNvPr id="7" name="Text 5"/>
          <p:cNvSpPr/>
          <p:nvPr/>
        </p:nvSpPr>
        <p:spPr>
          <a:xfrm>
            <a:off x="640080" y="1965960"/>
            <a:ext cx="4572000" cy="274320"/>
          </a:xfrm>
          <a:prstGeom prst="rect">
            <a:avLst/>
          </a:prstGeom>
          <a:noFill/>
          <a:ln/>
        </p:spPr>
        <p:txBody>
          <a:bodyPr wrap="square" lIns="0" tIns="0" rIns="0" bIns="0" rtlCol="0" anchor="ctr"/>
          <a:lstStyle/>
          <a:p>
            <a:pPr marL="0" indent="0">
              <a:buNone/>
            </a:pPr>
            <a:r>
              <a:rPr lang="en-US" sz="950" b="1" kern="0" spc="500" dirty="0">
                <a:solidFill>
                  <a:srgbClr val="858585"/>
                </a:solidFill>
                <a:latin typeface="Calibri" pitchFamily="34" charset="0"/>
                <a:ea typeface="Calibri" pitchFamily="34" charset="-122"/>
                <a:cs typeface="Calibri" pitchFamily="34" charset="-120"/>
              </a:rPr>
              <a:t>CONFUSION  MATRIX  ·  LEGAL-BERT</a:t>
            </a:r>
            <a:endParaRPr lang="en-US" sz="950" dirty="0"/>
          </a:p>
        </p:txBody>
      </p:sp>
      <p:sp>
        <p:nvSpPr>
          <p:cNvPr id="10" name="Text 8"/>
          <p:cNvSpPr/>
          <p:nvPr/>
        </p:nvSpPr>
        <p:spPr>
          <a:xfrm>
            <a:off x="6035040" y="1965960"/>
            <a:ext cx="2926080" cy="777240"/>
          </a:xfrm>
          <a:prstGeom prst="rect">
            <a:avLst/>
          </a:prstGeom>
          <a:noFill/>
          <a:ln/>
        </p:spPr>
        <p:txBody>
          <a:bodyPr wrap="square" lIns="0" tIns="0" rIns="0" bIns="0" rtlCol="0" anchor="ctr"/>
          <a:lstStyle/>
          <a:p>
            <a:pPr marL="0" indent="0" algn="l">
              <a:buNone/>
            </a:pPr>
            <a:r>
              <a:rPr lang="en-US" sz="4800" b="1" dirty="0">
                <a:solidFill>
                  <a:srgbClr val="4E2A84"/>
                </a:solidFill>
                <a:latin typeface="Georgia" pitchFamily="34" charset="0"/>
                <a:ea typeface="Georgia" pitchFamily="34" charset="-122"/>
                <a:cs typeface="Georgia" pitchFamily="34" charset="-120"/>
              </a:rPr>
              <a:t>0.948</a:t>
            </a:r>
            <a:endParaRPr lang="en-US" sz="4800" dirty="0"/>
          </a:p>
        </p:txBody>
      </p:sp>
      <p:sp>
        <p:nvSpPr>
          <p:cNvPr id="11" name="Text 9"/>
          <p:cNvSpPr/>
          <p:nvPr/>
        </p:nvSpPr>
        <p:spPr>
          <a:xfrm>
            <a:off x="6035040" y="2697480"/>
            <a:ext cx="2926080" cy="274320"/>
          </a:xfrm>
          <a:prstGeom prst="rect">
            <a:avLst/>
          </a:prstGeom>
          <a:noFill/>
          <a:ln/>
        </p:spPr>
        <p:txBody>
          <a:bodyPr wrap="square" lIns="0" tIns="0" rIns="0" bIns="0" rtlCol="0" anchor="ctr"/>
          <a:lstStyle/>
          <a:p>
            <a:pPr marL="0" indent="0">
              <a:buNone/>
            </a:pPr>
            <a:r>
              <a:rPr lang="en-US" sz="1100" i="1" dirty="0">
                <a:solidFill>
                  <a:srgbClr val="858585"/>
                </a:solidFill>
                <a:latin typeface="Calibri" pitchFamily="34" charset="0"/>
                <a:ea typeface="Calibri" pitchFamily="34" charset="-122"/>
                <a:cs typeface="Calibri" pitchFamily="34" charset="-120"/>
              </a:rPr>
              <a:t>Legal-BERT macro-F1 (test).  </a:t>
            </a:r>
            <a:r>
              <a:rPr lang="en-US" sz="1100" b="1" i="1" dirty="0">
                <a:solidFill>
                  <a:srgbClr val="9A7E3F"/>
                </a:solidFill>
                <a:latin typeface="Calibri" pitchFamily="34" charset="0"/>
                <a:ea typeface="Calibri" pitchFamily="34" charset="-122"/>
                <a:cs typeface="Calibri" pitchFamily="34" charset="-120"/>
              </a:rPr>
              <a:t>+5.8 pts</a:t>
            </a:r>
            <a:r>
              <a:rPr lang="en-US" sz="1100" i="1" dirty="0">
                <a:solidFill>
                  <a:srgbClr val="858585"/>
                </a:solidFill>
                <a:latin typeface="Calibri" pitchFamily="34" charset="0"/>
                <a:ea typeface="Calibri" pitchFamily="34" charset="-122"/>
                <a:cs typeface="Calibri" pitchFamily="34" charset="-120"/>
              </a:rPr>
              <a:t> over LR, +13.9 pts over NB.</a:t>
            </a:r>
            <a:endParaRPr lang="en-US" sz="1100" dirty="0"/>
          </a:p>
        </p:txBody>
      </p:sp>
      <p:sp>
        <p:nvSpPr>
          <p:cNvPr id="12" name="Text 10"/>
          <p:cNvSpPr/>
          <p:nvPr/>
        </p:nvSpPr>
        <p:spPr>
          <a:xfrm>
            <a:off x="6035040" y="3063240"/>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Legal-BERT</a:t>
            </a:r>
            <a:endParaRPr lang="en-US" sz="1000" dirty="0"/>
          </a:p>
        </p:txBody>
      </p:sp>
      <p:sp>
        <p:nvSpPr>
          <p:cNvPr id="13" name="Text 11"/>
          <p:cNvSpPr/>
          <p:nvPr/>
        </p:nvSpPr>
        <p:spPr>
          <a:xfrm>
            <a:off x="7909560" y="3063240"/>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0.948</a:t>
            </a:r>
            <a:endParaRPr lang="en-US" sz="1050" dirty="0"/>
          </a:p>
        </p:txBody>
      </p:sp>
      <p:sp>
        <p:nvSpPr>
          <p:cNvPr id="14" name="Text 12"/>
          <p:cNvSpPr/>
          <p:nvPr/>
        </p:nvSpPr>
        <p:spPr>
          <a:xfrm>
            <a:off x="8366760" y="3063240"/>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0.971</a:t>
            </a:r>
            <a:endParaRPr lang="en-US" sz="950" dirty="0"/>
          </a:p>
        </p:txBody>
      </p:sp>
      <p:sp>
        <p:nvSpPr>
          <p:cNvPr id="15" name="Text 13"/>
          <p:cNvSpPr/>
          <p:nvPr/>
        </p:nvSpPr>
        <p:spPr>
          <a:xfrm>
            <a:off x="6035040" y="3310128"/>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LR (TF-IDF)</a:t>
            </a:r>
            <a:endParaRPr lang="en-US" sz="1000" dirty="0"/>
          </a:p>
        </p:txBody>
      </p:sp>
      <p:sp>
        <p:nvSpPr>
          <p:cNvPr id="16" name="Text 14"/>
          <p:cNvSpPr/>
          <p:nvPr/>
        </p:nvSpPr>
        <p:spPr>
          <a:xfrm>
            <a:off x="7909560" y="3310128"/>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0.890</a:t>
            </a:r>
            <a:endParaRPr lang="en-US" sz="1050" dirty="0"/>
          </a:p>
        </p:txBody>
      </p:sp>
      <p:sp>
        <p:nvSpPr>
          <p:cNvPr id="17" name="Text 15"/>
          <p:cNvSpPr/>
          <p:nvPr/>
        </p:nvSpPr>
        <p:spPr>
          <a:xfrm>
            <a:off x="8366760" y="3310128"/>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0.968</a:t>
            </a:r>
            <a:endParaRPr lang="en-US" sz="950" dirty="0"/>
          </a:p>
        </p:txBody>
      </p:sp>
      <p:sp>
        <p:nvSpPr>
          <p:cNvPr id="18" name="Text 16"/>
          <p:cNvSpPr/>
          <p:nvPr/>
        </p:nvSpPr>
        <p:spPr>
          <a:xfrm>
            <a:off x="6035040" y="3557016"/>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Bi-LSTM</a:t>
            </a:r>
            <a:endParaRPr lang="en-US" sz="1000" dirty="0"/>
          </a:p>
        </p:txBody>
      </p:sp>
      <p:sp>
        <p:nvSpPr>
          <p:cNvPr id="19" name="Text 17"/>
          <p:cNvSpPr/>
          <p:nvPr/>
        </p:nvSpPr>
        <p:spPr>
          <a:xfrm>
            <a:off x="7909560" y="3557016"/>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0.857</a:t>
            </a:r>
            <a:endParaRPr lang="en-US" sz="1050" dirty="0"/>
          </a:p>
        </p:txBody>
      </p:sp>
      <p:sp>
        <p:nvSpPr>
          <p:cNvPr id="20" name="Text 18"/>
          <p:cNvSpPr/>
          <p:nvPr/>
        </p:nvSpPr>
        <p:spPr>
          <a:xfrm>
            <a:off x="8366760" y="3557016"/>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0.929</a:t>
            </a:r>
            <a:endParaRPr lang="en-US" sz="950" dirty="0"/>
          </a:p>
        </p:txBody>
      </p:sp>
      <p:sp>
        <p:nvSpPr>
          <p:cNvPr id="21" name="Text 19"/>
          <p:cNvSpPr/>
          <p:nvPr/>
        </p:nvSpPr>
        <p:spPr>
          <a:xfrm>
            <a:off x="6035040" y="3803904"/>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Naive Bayes</a:t>
            </a:r>
            <a:endParaRPr lang="en-US" sz="1000" dirty="0"/>
          </a:p>
        </p:txBody>
      </p:sp>
      <p:sp>
        <p:nvSpPr>
          <p:cNvPr id="22" name="Text 20"/>
          <p:cNvSpPr/>
          <p:nvPr/>
        </p:nvSpPr>
        <p:spPr>
          <a:xfrm>
            <a:off x="7909560" y="3803904"/>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0.809</a:t>
            </a:r>
            <a:endParaRPr lang="en-US" sz="1050" dirty="0"/>
          </a:p>
        </p:txBody>
      </p:sp>
      <p:sp>
        <p:nvSpPr>
          <p:cNvPr id="23" name="Text 21"/>
          <p:cNvSpPr/>
          <p:nvPr/>
        </p:nvSpPr>
        <p:spPr>
          <a:xfrm>
            <a:off x="8366760" y="3803904"/>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0.920</a:t>
            </a:r>
            <a:endParaRPr lang="en-US" sz="950" dirty="0"/>
          </a:p>
        </p:txBody>
      </p:sp>
      <p:sp>
        <p:nvSpPr>
          <p:cNvPr id="24" name="Text 22"/>
          <p:cNvSpPr/>
          <p:nvPr/>
        </p:nvSpPr>
        <p:spPr>
          <a:xfrm>
            <a:off x="6035040" y="4050792"/>
            <a:ext cx="1920240" cy="228600"/>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
            </a:r>
            <a:endParaRPr lang="en-US" sz="1000" dirty="0"/>
          </a:p>
        </p:txBody>
      </p:sp>
      <p:sp>
        <p:nvSpPr>
          <p:cNvPr id="25" name="Text 23"/>
          <p:cNvSpPr/>
          <p:nvPr/>
        </p:nvSpPr>
        <p:spPr>
          <a:xfrm>
            <a:off x="7909560" y="4050792"/>
            <a:ext cx="411480" cy="228600"/>
          </a:xfrm>
          <a:prstGeom prst="rect">
            <a:avLst/>
          </a:prstGeom>
          <a:noFill/>
          <a:ln/>
        </p:spPr>
        <p:txBody>
          <a:bodyPr wrap="square" lIns="0" tIns="0" rIns="0" bIns="0" rtlCol="0" anchor="ctr"/>
          <a:lstStyle/>
          <a:p>
            <a:pPr marL="0" indent="0" algn="r">
              <a:buNone/>
            </a:pPr>
            <a:r>
              <a:rPr lang="en-US" sz="1050" b="1" dirty="0">
                <a:solidFill>
                  <a:srgbClr val="4E2A84"/>
                </a:solidFill>
                <a:latin typeface="Georgia" pitchFamily="34" charset="0"/>
                <a:ea typeface="Georgia" pitchFamily="34" charset="-122"/>
                <a:cs typeface="Georgia" pitchFamily="34" charset="-120"/>
              </a:rPr>
              <a:t/>
            </a:r>
            <a:endParaRPr lang="en-US" sz="1050" dirty="0"/>
          </a:p>
        </p:txBody>
      </p:sp>
      <p:sp>
        <p:nvSpPr>
          <p:cNvPr id="26" name="Text 24"/>
          <p:cNvSpPr/>
          <p:nvPr/>
        </p:nvSpPr>
        <p:spPr>
          <a:xfrm>
            <a:off x="8366760" y="4050792"/>
            <a:ext cx="457200" cy="228600"/>
          </a:xfrm>
          <a:prstGeom prst="rect">
            <a:avLst/>
          </a:prstGeom>
          <a:noFill/>
          <a:ln/>
        </p:spPr>
        <p:txBody>
          <a:bodyPr wrap="square" lIns="0" tIns="0" rIns="0" bIns="0" rtlCol="0" anchor="ctr"/>
          <a:lstStyle/>
          <a:p>
            <a:pPr marL="0" indent="0" algn="r">
              <a:buNone/>
            </a:pPr>
            <a:r>
              <a:rPr lang="en-US" sz="950" dirty="0">
                <a:solidFill>
                  <a:srgbClr val="858585"/>
                </a:solidFill>
                <a:latin typeface="Calibri" pitchFamily="34" charset="0"/>
                <a:ea typeface="Calibri" pitchFamily="34" charset="-122"/>
                <a:cs typeface="Calibri" pitchFamily="34" charset="-120"/>
              </a:rPr>
              <a:t/>
            </a:r>
            <a:endParaRPr lang="en-US" sz="950" dirty="0"/>
          </a:p>
        </p:txBody>
      </p:sp>
      <p:sp>
        <p:nvSpPr>
          <p:cNvPr id="27" name="Text 25"/>
          <p:cNvSpPr/>
          <p:nvPr/>
        </p:nvSpPr>
        <p:spPr>
          <a:xfrm>
            <a:off x="640080" y="4663440"/>
            <a:ext cx="8229600" cy="292608"/>
          </a:xfrm>
          <a:prstGeom prst="rect">
            <a:avLst/>
          </a:prstGeom>
          <a:noFill/>
          <a:ln/>
        </p:spPr>
        <p:txBody>
          <a:bodyPr wrap="square" lIns="0" tIns="0" rIns="0" bIns="0" rtlCol="0" anchor="ctr"/>
          <a:lstStyle/>
          <a:p>
            <a:pPr marL="0" indent="0">
              <a:buNone/>
            </a:pPr>
            <a:r>
              <a:rPr lang="en-US" sz="1100" b="1" i="1" dirty="0">
                <a:solidFill>
                  <a:srgbClr val="9A7E3F"/>
                </a:solidFill>
                <a:latin typeface="Georgia" pitchFamily="34" charset="0"/>
                <a:ea typeface="Georgia" pitchFamily="34" charset="-122"/>
                <a:cs typeface="Georgia" pitchFamily="34" charset="-120"/>
              </a:rPr>
              <a:t>—  </a:t>
            </a:r>
            <a:r>
              <a:rPr lang="en-US" sz="1100" i="1" dirty="0">
                <a:solidFill>
                  <a:srgbClr val="4A4A4A"/>
                </a:solidFill>
                <a:latin typeface="Georgia" pitchFamily="34" charset="0"/>
                <a:ea typeface="Georgia" pitchFamily="34" charset="-122"/>
                <a:cs typeface="Georgia" pitchFamily="34" charset="-120"/>
              </a:rPr>
              <a:t>Legal-BERT recovers </a:t>
            </a:r>
            <a:r>
              <a:rPr lang="en-US" sz="1100" b="1" i="1" dirty="0">
                <a:solidFill>
                  <a:srgbClr val="4E2A84"/>
                </a:solidFill>
                <a:latin typeface="Georgia" pitchFamily="34" charset="0"/>
                <a:ea typeface="Georgia" pitchFamily="34" charset="-122"/>
                <a:cs typeface="Georgia" pitchFamily="34" charset="-120"/>
              </a:rPr>
              <a:t>108 / 116</a:t>
            </a:r>
            <a:r>
              <a:rPr lang="en-US" sz="1100" i="1" dirty="0">
                <a:solidFill>
                  <a:srgbClr val="4A4A4A"/>
                </a:solidFill>
                <a:latin typeface="Georgia" pitchFamily="34" charset="0"/>
                <a:ea typeface="Georgia" pitchFamily="34" charset="-122"/>
                <a:cs typeface="Georgia" pitchFamily="34" charset="-120"/>
              </a:rPr>
              <a:t> 'Yes' cases (93 % recall) with only 8 false negatives.</a:t>
            </a:r>
            <a:endParaRPr lang="en-US" sz="1100" dirty="0"/>
          </a:p>
        </p:txBody>
      </p:sp>
      <p:pic>
        <p:nvPicPr>
          <p:cNvPr id="28" name="Picture 27" descr="bert_classaction_test.png"/>
          <p:cNvPicPr>
            <a:picLocks noChangeAspect="1"/>
          </p:cNvPicPr>
          <p:nvPr/>
        </p:nvPicPr>
        <p:blipFill>
          <a:blip r:embed="rId3"/>
          <a:stretch>
            <a:fillRect/>
          </a:stretch>
        </p:blipFill>
        <p:spPr>
          <a:xfrm>
            <a:off x="640080" y="2240280"/>
            <a:ext cx="5212080" cy="2331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09</a:t>
            </a:r>
            <a:endParaRPr lang="en-US" sz="1100" dirty="0"/>
          </a:p>
        </p:txBody>
      </p:sp>
      <p:sp>
        <p:nvSpPr>
          <p:cNvPr id="3" name="Text 1"/>
          <p:cNvSpPr/>
          <p:nvPr/>
        </p:nvSpPr>
        <p:spPr>
          <a:xfrm>
            <a:off x="640080" y="411480"/>
            <a:ext cx="64008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RESULTS</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case_type — only Legal-BERT handles the tail</a:t>
            </a:r>
            <a:endParaRPr lang="en-US" sz="2600" dirty="0"/>
          </a:p>
        </p:txBody>
      </p:sp>
      <p:sp>
        <p:nvSpPr>
          <p:cNvPr id="5" name="Text 3"/>
          <p:cNvSpPr/>
          <p:nvPr/>
        </p:nvSpPr>
        <p:spPr>
          <a:xfrm>
            <a:off x="658368" y="1325880"/>
            <a:ext cx="8229600" cy="365760"/>
          </a:xfrm>
          <a:prstGeom prst="rect">
            <a:avLst/>
          </a:prstGeom>
          <a:noFill/>
          <a:ln/>
        </p:spPr>
        <p:txBody>
          <a:bodyPr wrap="square" lIns="0" tIns="0" rIns="0" bIns="0" rtlCol="0" anchor="ctr"/>
          <a:lstStyle/>
          <a:p>
            <a:pPr marL="0" indent="0">
              <a:buNone/>
            </a:pPr>
            <a:r>
              <a:rPr lang="en-US" sz="1200" i="1" dirty="0">
                <a:solidFill>
                  <a:srgbClr val="858585"/>
                </a:solidFill>
                <a:latin typeface="Calibri" pitchFamily="34" charset="0"/>
                <a:ea typeface="Calibri" pitchFamily="34" charset="-122"/>
                <a:cs typeface="Calibri" pitchFamily="34" charset="-120"/>
              </a:rPr>
              <a:t>5-class task, 312 test cases. Headline: macro-F1 = 0.854 for Legal-BERT; +17 pts over the best classical baseline.</a:t>
            </a:r>
            <a:endParaRPr lang="en-US" sz="1200" dirty="0"/>
          </a:p>
        </p:txBody>
      </p:sp>
      <p:graphicFrame>
        <p:nvGraphicFramePr>
          <p:cNvPr id="6" name="Table 0"/>
          <p:cNvGraphicFramePr>
            <a:graphicFrameLocks noGrp="1"/>
          </p:cNvGraphicFramePr>
          <p:nvPr/>
        </p:nvGraphicFramePr>
        <p:xfrm>
          <a:off x="640080" y="1874520"/>
          <a:ext cx="7863840" cy="1828800"/>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Features</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Macro-F1</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F1 on smallest class</a:t>
                      </a:r>
                      <a:endParaRPr lang="en-US" sz="1100" dirty="0">
                        <a:latin typeface="Calibri" charset="0"/>
                        <a:ea typeface="Calibri" charset="0"/>
                        <a:cs typeface="Calibri" charset="0"/>
                      </a:endParaRPr>
                    </a:p>
                  </a:txBody>
                  <a:tcPr anchor="ct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solidFill>
                      <a:srgbClr val="4E2A84"/>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Naive Bayes</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TF-IDF (Complement)</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0.776</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0.684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0.944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0.222</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LR (TF-IDF)</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L2 · class-balanced</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0.760</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0.630</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0.971</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0.000</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Bi-LSTM</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Word2Vec 300d</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0.744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0.636</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0.914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0.154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Legal-BERT</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Fine-tune, 3 epochs</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0.897</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0.854</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0.972</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0.645</a:t>
                      </a:r>
                      <a:endParaRPr lang="en-US" sz="1100" dirty="0">
                        <a:latin typeface="Calibri" charset="0"/>
                        <a:ea typeface="Calibri" charset="0"/>
                        <a:cs typeface="Calibri" charset="0"/>
                      </a:endParaRPr>
                    </a:p>
                  </a:txBody>
                  <a:tcPr>
                    <a:lnL w="6350" cap="flat" cmpd="sng" algn="ctr">
                      <a:solidFill>
                        <a:srgbClr val="DCD4E5"/>
                      </a:solidFill>
                      <a:prstDash val="solid"/>
                      <a:round/>
                      <a:headEnd type="none" w="med" len="med"/>
                      <a:tailEnd type="none" w="med" len="med"/>
                    </a:lnL>
                    <a:lnR w="6350" cap="flat" cmpd="sng" algn="ctr">
                      <a:solidFill>
                        <a:srgbClr val="DCD4E5"/>
                      </a:solidFill>
                      <a:prstDash val="solid"/>
                      <a:round/>
                      <a:headEnd type="none" w="med" len="med"/>
                      <a:tailEnd type="none" w="med" len="med"/>
                    </a:lnR>
                    <a:lnT w="6350" cap="flat" cmpd="sng" algn="ctr">
                      <a:solidFill>
                        <a:srgbClr val="DCD4E5"/>
                      </a:solidFill>
                      <a:prstDash val="solid"/>
                      <a:round/>
                      <a:headEnd type="none" w="med" len="med"/>
                      <a:tailEnd type="none" w="med" len="med"/>
                    </a:lnT>
                    <a:lnB w="6350" cap="flat" cmpd="sng" algn="ctr">
                      <a:solidFill>
                        <a:srgbClr val="DCD4E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4"/>
          <p:cNvSpPr/>
          <p:nvPr/>
        </p:nvSpPr>
        <p:spPr>
          <a:xfrm>
            <a:off x="640080" y="4251960"/>
            <a:ext cx="7863840" cy="502920"/>
          </a:xfrm>
          <a:prstGeom prst="rect">
            <a:avLst/>
          </a:prstGeom>
          <a:solidFill>
            <a:srgbClr val="F4EFF8"/>
          </a:solidFill>
          <a:ln w="12700">
            <a:solidFill>
              <a:srgbClr val="F4EFF8"/>
            </a:solidFill>
            <a:prstDash val="solid"/>
          </a:ln>
        </p:spPr>
        <p:txBody>
          <a:bodyPr/>
          <a:lstStyle/>
          <a:p>
            <a:endParaRPr lang="zh-CN" altLang="en-US"/>
          </a:p>
        </p:txBody>
      </p:sp>
      <p:sp>
        <p:nvSpPr>
          <p:cNvPr id="8" name="Text 5"/>
          <p:cNvSpPr/>
          <p:nvPr/>
        </p:nvSpPr>
        <p:spPr>
          <a:xfrm>
            <a:off x="777240" y="4297680"/>
            <a:ext cx="7589520" cy="411480"/>
          </a:xfrm>
          <a:prstGeom prst="rect">
            <a:avLst/>
          </a:prstGeom>
          <a:noFill/>
          <a:ln/>
        </p:spPr>
        <p:txBody>
          <a:bodyPr wrap="square" lIns="0" tIns="0" rIns="0" bIns="0" rtlCol="0" anchor="ctr"/>
          <a:lstStyle/>
          <a:p>
            <a:pPr marL="0" indent="0">
              <a:buNone/>
            </a:pPr>
            <a:r>
              <a:rPr lang="en-US" sz="1100" b="1" dirty="0">
                <a:solidFill>
                  <a:srgbClr val="4E2A84"/>
                </a:solidFill>
                <a:latin typeface="Calibri" pitchFamily="34" charset="0"/>
                <a:ea typeface="Calibri" pitchFamily="34" charset="-122"/>
                <a:cs typeface="Calibri" pitchFamily="34" charset="-120"/>
              </a:rPr>
              <a:t>Finding: </a:t>
            </a:r>
            <a:r>
              <a:rPr lang="en-US" sz="1100" dirty="0">
                <a:solidFill>
                  <a:srgbClr val="1A1A1A"/>
                </a:solidFill>
                <a:latin typeface="Calibri" pitchFamily="34" charset="0"/>
                <a:ea typeface="Calibri" pitchFamily="34" charset="-122"/>
                <a:cs typeface="Calibri" pitchFamily="34" charset="-120"/>
              </a:rPr>
              <a:t>on the rarest class 'Healthcare &amp; Disability' (n = 16), LR scores F1 = 0.000 — zero recall. </a:t>
            </a:r>
            <a:r>
              <a:rPr lang="en-US" sz="1100" b="1" dirty="0">
                <a:solidFill>
                  <a:srgbClr val="000000"/>
                </a:solidFill>
                <a:latin typeface="Calibri" pitchFamily="34" charset="0"/>
                <a:ea typeface="Calibri" pitchFamily="34" charset="-122"/>
                <a:cs typeface="Calibri" pitchFamily="34" charset="-120"/>
              </a:rPr>
              <a:t>Legal-BERT</a:t>
            </a:r>
            <a:r>
              <a:rPr lang="en-US" sz="1100" dirty="0">
                <a:solidFill>
                  <a:srgbClr val="1A1A1A"/>
                </a:solidFill>
                <a:latin typeface="Calibri" pitchFamily="34" charset="0"/>
                <a:ea typeface="Calibri" pitchFamily="34" charset="-122"/>
                <a:cs typeface="Calibri" pitchFamily="34" charset="-120"/>
              </a:rPr>
              <a:t> scores 0.645, the only model that preserves long-tail performance.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0X</a:t>
            </a:r>
            <a:endParaRPr lang="en-US" sz="1100" dirty="0"/>
          </a:p>
        </p:txBody>
      </p:sp>
      <p:sp>
        <p:nvSpPr>
          <p:cNvPr id="3" name="Text 1"/>
          <p:cNvSpPr/>
          <p:nvPr/>
        </p:nvSpPr>
        <p:spPr>
          <a:xfrm>
            <a:off x="640080" y="411480"/>
            <a:ext cx="64008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DEMO  /  SCREENSHOT</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Live demo: &lt;what you're showing&gt;</a:t>
            </a:r>
            <a:endParaRPr lang="en-US" sz="2600" dirty="0"/>
          </a:p>
        </p:txBody>
      </p:sp>
      <p:sp>
        <p:nvSpPr>
          <p:cNvPr id="5" name="Shape 3"/>
          <p:cNvSpPr/>
          <p:nvPr/>
        </p:nvSpPr>
        <p:spPr>
          <a:xfrm>
            <a:off x="640080" y="1371600"/>
            <a:ext cx="7863840" cy="3108960"/>
          </a:xfrm>
          <a:prstGeom prst="rect">
            <a:avLst/>
          </a:prstGeom>
          <a:solidFill>
            <a:srgbClr val="F4EFF8"/>
          </a:solidFill>
          <a:ln w="6350">
            <a:solidFill>
              <a:srgbClr val="DCD4E5"/>
            </a:solidFill>
            <a:prstDash val="solid"/>
          </a:ln>
        </p:spPr>
        <p:txBody>
          <a:bodyPr/>
          <a:lstStyle/>
          <a:p>
            <a:endParaRPr lang="zh-CN" altLang="en-US"/>
          </a:p>
        </p:txBody>
      </p:sp>
      <p:sp>
        <p:nvSpPr>
          <p:cNvPr id="6" name="Text 4"/>
          <p:cNvSpPr/>
          <p:nvPr/>
        </p:nvSpPr>
        <p:spPr>
          <a:xfrm>
            <a:off x="640080" y="1371600"/>
            <a:ext cx="7863840" cy="3108960"/>
          </a:xfrm>
          <a:prstGeom prst="rect">
            <a:avLst/>
          </a:prstGeom>
          <a:noFill/>
          <a:ln/>
        </p:spPr>
        <p:txBody>
          <a:bodyPr wrap="square" rtlCol="0" anchor="ctr"/>
          <a:lstStyle/>
          <a:p>
            <a:pPr marL="0" indent="0" algn="ctr">
              <a:buNone/>
            </a:pPr>
            <a:r>
              <a:rPr lang="en-US" sz="1300" i="1" dirty="0">
                <a:solidFill>
                  <a:srgbClr val="858585"/>
                </a:solidFill>
                <a:latin typeface="Calibri" pitchFamily="34" charset="0"/>
                <a:ea typeface="Calibri" pitchFamily="34" charset="-122"/>
                <a:cs typeface="Calibri" pitchFamily="34" charset="-120"/>
              </a:rPr>
              <a:t>[ screenshot or live demo placeholder ]</a:t>
            </a:r>
            <a:endParaRPr lang="en-US" sz="1300" dirty="0"/>
          </a:p>
          <a:p>
            <a:pPr marL="0" indent="0" algn="ctr">
              <a:buNone/>
            </a:pPr>
            <a:endParaRPr lang="en-US" sz="1300" dirty="0"/>
          </a:p>
          <a:p>
            <a:pPr marL="0" indent="0" algn="ctr">
              <a:buNone/>
            </a:pPr>
            <a:r>
              <a:rPr lang="en-US" sz="1300" i="1" dirty="0">
                <a:solidFill>
                  <a:srgbClr val="858585"/>
                </a:solidFill>
                <a:latin typeface="Calibri" pitchFamily="34" charset="0"/>
                <a:ea typeface="Calibri" pitchFamily="34" charset="-122"/>
                <a:cs typeface="Calibri" pitchFamily="34" charset="-120"/>
              </a:rPr>
              <a:t>app/gradio screenshot, attention heatmap,</a:t>
            </a:r>
            <a:endParaRPr lang="en-US" sz="1300" dirty="0"/>
          </a:p>
          <a:p>
            <a:pPr marL="0" indent="0" algn="ctr">
              <a:buNone/>
            </a:pPr>
            <a:r>
              <a:rPr lang="en-US" sz="1300" i="1" dirty="0">
                <a:solidFill>
                  <a:srgbClr val="858585"/>
                </a:solidFill>
                <a:latin typeface="Calibri" pitchFamily="34" charset="0"/>
                <a:ea typeface="Calibri" pitchFamily="34" charset="-122"/>
                <a:cs typeface="Calibri" pitchFamily="34" charset="-120"/>
              </a:rPr>
              <a:t>or whatever fills most of the slide</a:t>
            </a:r>
            <a:endParaRPr lang="en-US" sz="1300" dirty="0"/>
          </a:p>
        </p:txBody>
      </p:sp>
      <p:sp>
        <p:nvSpPr>
          <p:cNvPr id="7" name="Text 5"/>
          <p:cNvSpPr/>
          <p:nvPr/>
        </p:nvSpPr>
        <p:spPr>
          <a:xfrm>
            <a:off x="640080" y="4617720"/>
            <a:ext cx="7863840" cy="274320"/>
          </a:xfrm>
          <a:prstGeom prst="rect">
            <a:avLst/>
          </a:prstGeom>
          <a:noFill/>
          <a:ln/>
        </p:spPr>
        <p:txBody>
          <a:bodyPr wrap="square" lIns="0" tIns="0" rIns="0" bIns="0" rtlCol="0" anchor="ctr"/>
          <a:lstStyle/>
          <a:p>
            <a:pPr marL="0" indent="0">
              <a:buNone/>
            </a:pPr>
            <a:r>
              <a:rPr lang="en-US" sz="1100" dirty="0">
                <a:solidFill>
                  <a:srgbClr val="858585"/>
                </a:solidFill>
                <a:latin typeface="Calibri" pitchFamily="34" charset="0"/>
                <a:ea typeface="Calibri" pitchFamily="34" charset="-122"/>
                <a:cs typeface="Calibri" pitchFamily="34" charset="-120"/>
              </a:rPr>
              <a:t>Demo URL: </a:t>
            </a:r>
            <a:r>
              <a:rPr lang="en-US" sz="1100" dirty="0">
                <a:solidFill>
                  <a:srgbClr val="4E2A84"/>
                </a:solidFill>
                <a:latin typeface="Calibri" pitchFamily="34" charset="0"/>
                <a:ea typeface="Calibri" pitchFamily="34" charset="-122"/>
                <a:cs typeface="Calibri" pitchFamily="34" charset="-120"/>
              </a:rPr>
              <a:t>https://huggingface.co/spaces/&lt;team&gt;/multilexsum-demo</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229600" y="411480"/>
            <a:ext cx="548640" cy="320040"/>
          </a:xfrm>
          <a:prstGeom prst="rect">
            <a:avLst/>
          </a:prstGeom>
          <a:noFill/>
          <a:ln/>
        </p:spPr>
        <p:txBody>
          <a:bodyPr wrap="square" lIns="0" tIns="0" rIns="0" bIns="0" rtlCol="0" anchor="ctr"/>
          <a:lstStyle/>
          <a:p>
            <a:pPr marL="0" indent="0" algn="r">
              <a:buNone/>
            </a:pPr>
            <a:r>
              <a:rPr lang="en-US" sz="1100" i="1" dirty="0">
                <a:solidFill>
                  <a:srgbClr val="858585"/>
                </a:solidFill>
                <a:latin typeface="Georgia" pitchFamily="34" charset="0"/>
                <a:ea typeface="Georgia" pitchFamily="34" charset="-122"/>
                <a:cs typeface="Georgia" pitchFamily="34" charset="-120"/>
              </a:rPr>
              <a:t>12</a:t>
            </a:r>
            <a:endParaRPr lang="en-US" sz="1100" dirty="0"/>
          </a:p>
        </p:txBody>
      </p:sp>
      <p:sp>
        <p:nvSpPr>
          <p:cNvPr id="3" name="Text 1"/>
          <p:cNvSpPr/>
          <p:nvPr/>
        </p:nvSpPr>
        <p:spPr>
          <a:xfrm>
            <a:off x="640080" y="411480"/>
            <a:ext cx="6400800" cy="274320"/>
          </a:xfrm>
          <a:prstGeom prst="rect">
            <a:avLst/>
          </a:prstGeom>
          <a:noFill/>
          <a:ln/>
        </p:spPr>
        <p:txBody>
          <a:bodyPr wrap="square" lIns="0" tIns="0" rIns="0" bIns="0" rtlCol="0" anchor="ctr"/>
          <a:lstStyle/>
          <a:p>
            <a:pPr marL="0" indent="0">
              <a:buNone/>
            </a:pPr>
            <a:r>
              <a:rPr lang="en-US" sz="950" b="1" kern="0" spc="500" dirty="0">
                <a:solidFill>
                  <a:srgbClr val="4E2A84"/>
                </a:solidFill>
                <a:latin typeface="Calibri" pitchFamily="34" charset="0"/>
                <a:ea typeface="Calibri" pitchFamily="34" charset="-122"/>
                <a:cs typeface="Calibri" pitchFamily="34" charset="-120"/>
              </a:rPr>
              <a:t>CONCLUSION</a:t>
            </a:r>
            <a:endParaRPr lang="en-US" sz="950" dirty="0"/>
          </a:p>
        </p:txBody>
      </p:sp>
      <p:sp>
        <p:nvSpPr>
          <p:cNvPr id="4" name="Text 2"/>
          <p:cNvSpPr/>
          <p:nvPr/>
        </p:nvSpPr>
        <p:spPr>
          <a:xfrm>
            <a:off x="640080" y="777240"/>
            <a:ext cx="8229600" cy="50292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Lessons &amp; future work</a:t>
            </a:r>
            <a:endParaRPr lang="en-US" sz="2600" dirty="0"/>
          </a:p>
        </p:txBody>
      </p:sp>
      <p:sp>
        <p:nvSpPr>
          <p:cNvPr id="5" name="Text 3"/>
          <p:cNvSpPr/>
          <p:nvPr/>
        </p:nvSpPr>
        <p:spPr>
          <a:xfrm>
            <a:off x="640080" y="1417320"/>
            <a:ext cx="868680" cy="777240"/>
          </a:xfrm>
          <a:prstGeom prst="rect">
            <a:avLst/>
          </a:prstGeom>
          <a:noFill/>
          <a:ln/>
        </p:spPr>
        <p:txBody>
          <a:bodyPr wrap="square" lIns="0" tIns="0" rIns="0" bIns="0" rtlCol="0" anchor="ctr"/>
          <a:lstStyle/>
          <a:p>
            <a:pPr marL="0" indent="0" algn="l">
              <a:buNone/>
            </a:pPr>
            <a:r>
              <a:rPr lang="en-US" sz="4400" b="1" dirty="0">
                <a:solidFill>
                  <a:srgbClr val="4E2A84"/>
                </a:solidFill>
                <a:latin typeface="Georgia" pitchFamily="34" charset="0"/>
                <a:ea typeface="Georgia" pitchFamily="34" charset="-122"/>
                <a:cs typeface="Georgia" pitchFamily="34" charset="-120"/>
              </a:rPr>
              <a:t>01</a:t>
            </a:r>
            <a:endParaRPr lang="en-US" sz="4400" dirty="0"/>
          </a:p>
        </p:txBody>
      </p:sp>
      <p:sp>
        <p:nvSpPr>
          <p:cNvPr id="6" name="Text 4"/>
          <p:cNvSpPr/>
          <p:nvPr/>
        </p:nvSpPr>
        <p:spPr>
          <a:xfrm>
            <a:off x="1645920" y="1490472"/>
            <a:ext cx="6858000" cy="292608"/>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Summarization takeaway</a:t>
            </a:r>
            <a:endParaRPr lang="en-US" sz="1500" dirty="0"/>
          </a:p>
        </p:txBody>
      </p:sp>
      <p:sp>
        <p:nvSpPr>
          <p:cNvPr id="7" name="Text 5"/>
          <p:cNvSpPr/>
          <p:nvPr/>
        </p:nvSpPr>
        <p:spPr>
          <a:xfrm>
            <a:off x="1645920" y="1783080"/>
            <a:ext cx="6858000" cy="411480"/>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One technical lesson from §2 — what worked or what surprised you.</a:t>
            </a:r>
            <a:endParaRPr lang="en-US" sz="1100" dirty="0"/>
          </a:p>
        </p:txBody>
      </p:sp>
      <p:sp>
        <p:nvSpPr>
          <p:cNvPr id="8" name="Text 6"/>
          <p:cNvSpPr/>
          <p:nvPr/>
        </p:nvSpPr>
        <p:spPr>
          <a:xfrm>
            <a:off x="640080" y="2286000"/>
            <a:ext cx="868680" cy="777240"/>
          </a:xfrm>
          <a:prstGeom prst="rect">
            <a:avLst/>
          </a:prstGeom>
          <a:noFill/>
          <a:ln/>
        </p:spPr>
        <p:txBody>
          <a:bodyPr wrap="square" lIns="0" tIns="0" rIns="0" bIns="0" rtlCol="0" anchor="ctr"/>
          <a:lstStyle/>
          <a:p>
            <a:pPr marL="0" indent="0" algn="l">
              <a:buNone/>
            </a:pPr>
            <a:r>
              <a:rPr lang="en-US" sz="4400" b="1" dirty="0">
                <a:solidFill>
                  <a:srgbClr val="4E2A84"/>
                </a:solidFill>
                <a:latin typeface="Georgia" pitchFamily="34" charset="0"/>
                <a:ea typeface="Georgia" pitchFamily="34" charset="-122"/>
                <a:cs typeface="Georgia" pitchFamily="34" charset="-120"/>
              </a:rPr>
              <a:t>02</a:t>
            </a:r>
            <a:endParaRPr lang="en-US" sz="4400" dirty="0"/>
          </a:p>
        </p:txBody>
      </p:sp>
      <p:sp>
        <p:nvSpPr>
          <p:cNvPr id="9" name="Text 7"/>
          <p:cNvSpPr/>
          <p:nvPr/>
        </p:nvSpPr>
        <p:spPr>
          <a:xfrm>
            <a:off x="1645920" y="2359152"/>
            <a:ext cx="6858000" cy="292608"/>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Classification takeaway</a:t>
            </a:r>
            <a:endParaRPr lang="en-US" sz="1500" dirty="0"/>
          </a:p>
        </p:txBody>
      </p:sp>
      <p:sp>
        <p:nvSpPr>
          <p:cNvPr id="10" name="Text 8"/>
          <p:cNvSpPr/>
          <p:nvPr/>
        </p:nvSpPr>
        <p:spPr>
          <a:xfrm>
            <a:off x="1645920" y="2651760"/>
            <a:ext cx="6858000" cy="411480"/>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One technical lesson from §3 — model choice, feature engineering, or failure mode.</a:t>
            </a:r>
            <a:endParaRPr lang="en-US" sz="1100" dirty="0"/>
          </a:p>
        </p:txBody>
      </p:sp>
      <p:sp>
        <p:nvSpPr>
          <p:cNvPr id="11" name="Text 9"/>
          <p:cNvSpPr/>
          <p:nvPr/>
        </p:nvSpPr>
        <p:spPr>
          <a:xfrm>
            <a:off x="640080" y="3154680"/>
            <a:ext cx="868680" cy="777240"/>
          </a:xfrm>
          <a:prstGeom prst="rect">
            <a:avLst/>
          </a:prstGeom>
          <a:noFill/>
          <a:ln/>
        </p:spPr>
        <p:txBody>
          <a:bodyPr wrap="square" lIns="0" tIns="0" rIns="0" bIns="0" rtlCol="0" anchor="ctr"/>
          <a:lstStyle/>
          <a:p>
            <a:pPr marL="0" indent="0" algn="l">
              <a:buNone/>
            </a:pPr>
            <a:r>
              <a:rPr lang="en-US" sz="4400" b="1" dirty="0">
                <a:solidFill>
                  <a:srgbClr val="4E2A84"/>
                </a:solidFill>
                <a:latin typeface="Georgia" pitchFamily="34" charset="0"/>
                <a:ea typeface="Georgia" pitchFamily="34" charset="-122"/>
                <a:cs typeface="Georgia" pitchFamily="34" charset="-120"/>
              </a:rPr>
              <a:t>03</a:t>
            </a:r>
            <a:endParaRPr lang="en-US" sz="4400" dirty="0"/>
          </a:p>
        </p:txBody>
      </p:sp>
      <p:sp>
        <p:nvSpPr>
          <p:cNvPr id="12" name="Text 10"/>
          <p:cNvSpPr/>
          <p:nvPr/>
        </p:nvSpPr>
        <p:spPr>
          <a:xfrm>
            <a:off x="1645920" y="3227832"/>
            <a:ext cx="6858000" cy="292608"/>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Tool / integration takeaway</a:t>
            </a:r>
            <a:endParaRPr lang="en-US" sz="1500" dirty="0"/>
          </a:p>
        </p:txBody>
      </p:sp>
      <p:sp>
        <p:nvSpPr>
          <p:cNvPr id="13" name="Text 11"/>
          <p:cNvSpPr/>
          <p:nvPr/>
        </p:nvSpPr>
        <p:spPr>
          <a:xfrm>
            <a:off x="1645920" y="3520440"/>
            <a:ext cx="6858000" cy="411480"/>
          </a:xfrm>
          <a:prstGeom prst="rect">
            <a:avLst/>
          </a:prstGeom>
          <a:noFill/>
          <a:ln/>
        </p:spPr>
        <p:txBody>
          <a:bodyPr wrap="square" lIns="0" tIns="0" rIns="0" bIns="0" rtlCol="0" anchor="ctr"/>
          <a:lstStyle/>
          <a:p>
            <a:pPr marL="0" indent="0">
              <a:buNone/>
            </a:pPr>
            <a:r>
              <a:rPr lang="en-US" sz="1100" dirty="0">
                <a:solidFill>
                  <a:srgbClr val="4A4A4A"/>
                </a:solidFill>
                <a:latin typeface="Calibri" pitchFamily="34" charset="0"/>
                <a:ea typeface="Calibri" pitchFamily="34" charset="-122"/>
                <a:cs typeface="Calibri" pitchFamily="34" charset="-120"/>
              </a:rPr>
              <a:t>One lesson from building the Gradio app or error analysis.</a:t>
            </a:r>
            <a:endParaRPr lang="en-US" sz="1100" dirty="0"/>
          </a:p>
        </p:txBody>
      </p:sp>
      <p:sp>
        <p:nvSpPr>
          <p:cNvPr id="14" name="Text 12"/>
          <p:cNvSpPr/>
          <p:nvPr/>
        </p:nvSpPr>
        <p:spPr>
          <a:xfrm>
            <a:off x="640080" y="4251960"/>
            <a:ext cx="8229600" cy="502920"/>
          </a:xfrm>
          <a:prstGeom prst="rect">
            <a:avLst/>
          </a:prstGeom>
          <a:noFill/>
          <a:ln/>
        </p:spPr>
        <p:txBody>
          <a:bodyPr wrap="square" lIns="0" tIns="0" rIns="0" bIns="0" rtlCol="0" anchor="ctr"/>
          <a:lstStyle/>
          <a:p>
            <a:pPr marL="0" indent="0">
              <a:buNone/>
            </a:pPr>
            <a:r>
              <a:rPr lang="en-US" sz="1100" b="1" i="1" dirty="0">
                <a:solidFill>
                  <a:srgbClr val="9A7E3F"/>
                </a:solidFill>
                <a:latin typeface="Georgia" pitchFamily="34" charset="0"/>
                <a:ea typeface="Georgia" pitchFamily="34" charset="-122"/>
                <a:cs typeface="Georgia" pitchFamily="34" charset="-120"/>
              </a:rPr>
              <a:t>—  </a:t>
            </a:r>
            <a:r>
              <a:rPr lang="en-US" sz="1100" b="1" i="1" dirty="0">
                <a:solidFill>
                  <a:srgbClr val="4A4A4A"/>
                </a:solidFill>
                <a:latin typeface="Georgia" pitchFamily="34" charset="0"/>
                <a:ea typeface="Georgia" pitchFamily="34" charset="-122"/>
                <a:cs typeface="Georgia" pitchFamily="34" charset="-120"/>
              </a:rPr>
              <a:t>Future work: </a:t>
            </a:r>
            <a:r>
              <a:rPr lang="en-US" sz="1100" i="1" dirty="0">
                <a:solidFill>
                  <a:srgbClr val="4A4A4A"/>
                </a:solidFill>
                <a:latin typeface="Georgia" pitchFamily="34" charset="0"/>
                <a:ea typeface="Georgia" pitchFamily="34" charset="-122"/>
                <a:cs typeface="Georgia" pitchFamily="34" charset="-120"/>
              </a:rPr>
              <a:t>two or three concrete extensions (Legal-LLaMA fine-tune, retrieval-augmented summarization, hierarchical attention pooling).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1852</Words>
  <Application>Microsoft Macintosh PowerPoint</Application>
  <PresentationFormat>On-screen Show (16:9)</PresentationFormat>
  <Paragraphs>237</Paragraphs>
  <Slides>11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等线</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Junbo Lian (Jacob)</dc:creator>
  <cp:lastModifiedBy>Sun, Yujun</cp:lastModifiedBy>
  <cp:revision>4</cp:revision>
  <dcterms:created xsi:type="dcterms:W3CDTF">2026-05-21T05:02:08Z</dcterms:created>
  <dcterms:modified xsi:type="dcterms:W3CDTF">2026-05-23T23:25:23Z</dcterms:modified>
</cp:coreProperties>
</file>